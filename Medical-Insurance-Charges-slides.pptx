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78"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56355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summarises the executed notebook Medical_Insurance_Charges_Regression. The goal was to predict recorded medical insurance charges from six inputs and to be honest about what the model can and cannot show. The five parts are Objective, Data, Methods, Results and Conclusion. Charges are labelled in charge units because the CSV does not state a currency.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objective, data, methods, results and conclusion. The headline result is on this slide so the audience knows where the talk is heading: the BMI × smoking interaction model was chosen by five-fold validation and then checked once on a reserved test set.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Classification predicts a category such as smoker or non-smoker; regression predicts an amount. Under squared-error loss the ideal predictor is the conditional mean, the average charge for observations that share the same inputs. Charges are in charge units because the CSV does not state a currency or period.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academic prediction and model-diagnostics study. A useful predictor is not automatically a causal explanation, and the dataset has no diagnoses, policy design, patient identifiers or timestamps.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CSV has 1,338 rows and 7 columns, with no missing fields, finite numerical values and positive charges. Range checks catch invalid coding but cannot prove every value is clinically correct. The dataset is attributed to Kaggle's Medical Cost Personal Dataset; the original collection process was not verified.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is chosen to fit its training data, so training error is optimistic. The test set was reserved first and untouched until the model was selected. Splitting is by group rather than by row, which is why the counts are 1,070 and 268 rather than an exact 80/20 split of 1,338. There is no identifier proving whether the duplicate pair is accidental, so both rows are kept.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1 of the report. Each bar counts training observations in a bin: 25 bins for age, BMI and charges, and one bin per value for children. Age is concentrated among young adults, BMI is roughly mound-shaped with some high values, and most people have no children. Normal-looking predictors are not an OLS requirement.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3 of the report, with the boxplot and correlation findings from Figures 2 and 4. These are unadjusted comparisons, so a difference is not a causal effect. The BMI panel motivates testing a BMI × smoker term; it does not guarantee that the term will win, which is why it is tested on validation folds. The correlation matrix covers numerical variables only.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 is not coded 1 to 4 because that would invent an order and equal distances. Centring moves zero to an average training value so the intercept and interaction are easier to read; it does not discard information, and ordinary OLS does not need standardisation. During cross-validation each fitting fold recomputes its own means. The baseline design has eight predictor columns plus an intercept, so p = 9; the interaction adds one column.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the derivative of the squared-error loss to zero gives the normal equations, which have the closed-form solution shown when X has full column rank. The implementation uses a numerical solver rather than inverting XᵀX by hand. A residual is the observable difference after fitting; it is not the same as the unknown true error. OLS can be calculated without normal errors, but classical inference needs more assumptions, and predictive quality must be measured on held-out data.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additive smoking indicator shifts the fitted level but gives both groups the same BMI slope; the interaction lets the slopes differ while staying linear in the coefficients. The log candidate fits log charges and converts back with a smearing factor, the mean of the exponentiated training log residuals. The 1.5 gate was a predeclared heuristic, not a formal test. All log predictions are judged in original charge units.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training row gets one prediction from a model that did not fit it, so out-of-fold residuals are honest. The 1% tolerance is a practical simplicity rule, not statistical evidence that candidates are equivalent. The log-candidate eligibility gate uses the whole training partition, so cross-validation is an internal comparison rather than an unbiased evaluation of the entire design process; the untouched test set is the final check.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R² does not mean 83.5 percent or any other percentage of predictions are correct; it compares squared error with the variation in the target. Held-out R² can be negative if predictions are worse than predicting the evaluation-set mean. The screening thresholds are heuristics, not proof that a row is an outlier or an error, and no flagged row is removed automatically. HC3 standard errors change uncertainty estimates but not coefficients or predictions.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5 of the report. Bars show the mean of five fold RMSEs; error bars are the sample standard deviation across folds, not confidence intervals. Fold SDs are 469.21 for additive, 523.12 for interaction and 1,751.69 for the log model. The log model is much worse on the original charge scale; that is an empirical result here, not a general claim that logarithms are bad.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6 of the report. Each point is a training row predicted by a fold that did not fit it; the residual is actual minus predicted, so positive means underprediction. All three panels share the same axes, so the baseline cloud looks compressed because the scale stretches to the log model's extreme predictions. The plot supports rejecting the log candidate without establishing the exact cause of its failures.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set was evaluated once, after the model was selected. Test R² is 0.8862 on this particular partition; it is not 88.62 percent accuracy and not a guaranteed future score. Test error can be lower than training error because a random test set can contain easier observations and R² depends on its target variance. There is no mathematical rule that every test metric must be worse than training. Charges are in charge units.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Figure 9 of the report, using the 268 reserved test observations. In the left panel points below the dashed identity line are underpredictions. Many lower-cost predictions are close to their actual values, but some high actual costs are substantially underpredicted and some smokers have large errors. The model is not redesigned using these test plots, which would compromise the reserved-test role.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Smokers have larger absolute prediction errors by both MAE and RMSE. Their higher subgroup R² does not contradict this, because the target variances differ between the groups. With only 60 smokers in the test partition, subgroup conclusions are less secure.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Numerical predictors are centred at the training means, so the intercept is the prediction for a female non-smoker from the northeast at average age, BMI and children. Once the interaction is in the model, the smoking coefficient is the smoker difference at mean BMI, not a fixed difference at every BMI. The model keeps a common age slope, so these numbers are conditional on a still-restricted specification and should not be read causally. Displayed coefficients are rounded, and the actual charge 37,701.88 is rounded from 37,701.8768, so subtracting the displayed figures can differ from the notebook's full-precision residual of +4,315.43 by 0.01.</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interaction model was the strongest tested candidate for this small project. Its validation and test results are useful evidence, while the residual diagnostics show it remains an imperfect explanation of what generates charges. Deleting high-cost observations merely because they are hard to predict would narrow the target population and make evaluation misleading.</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phrase on the right overstates what the experiment establishes. R² of 0.8862 is a score on one particular split, not a percentage of correct predictions. The residual plots and the Q–Q plot show assumption violations. Boxplot differences and adjusted coefficients are associations, and adjusting for recorded variables does not remove all confounding. The diagnostic flags are screening heuristics, not proof of faulty records. A log transform is an option for skewed targets, not a guaranteed improvement; here it performed much worse.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summary. The interaction model reduced mean validation RMSE by 19.61 percent over the additive baseline and scored MAE 2,828.53, RMSE 4,572.84 and R² 0.8862 on the reserved test set. Residual structure remains, so the results support prediction rather than causal explanation. Suggested phrasing: I predicted recorded medical insurance charges from six inputs, compared models on five training folds, and reported the limitations rather than interpreting coefficients causally.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0F2A43"/>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0F2A43"/>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4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0F2A43"/>
                </a:solidFill>
                <a:latin typeface="Source Serif 4" pitchFamily="34" charset="0"/>
                <a:ea typeface="Source Serif 4" pitchFamily="34" charset="-122"/>
                <a:cs typeface="Source Serif 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0F2A43"/>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3"/>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2A43"/>
              </a:gs>
              <a:gs pos="100000">
                <a:srgbClr val="0A1D31"/>
              </a:gs>
            </a:gsLst>
            <a:lin ang="2700000" scaled="0"/>
          </a:gradFill>
          <a:ln/>
        </p:spPr>
        <p:txBody>
          <a:bodyPr/>
          <a:lstStyle/>
          <a:p>
            <a:endParaRPr lang="en-US"/>
          </a:p>
        </p:txBody>
      </p:sp>
      <p:pic>
        <p:nvPicPr>
          <p:cNvPr id="3" name="Image 0" descr="ellipse"/>
          <p:cNvPicPr>
            <a:picLocks noChangeAspect="1"/>
          </p:cNvPicPr>
          <p:nvPr/>
        </p:nvPicPr>
        <p:blipFill>
          <a:blip r:embed="rId3"/>
          <a:srcRect/>
          <a:stretch/>
        </p:blipFill>
        <p:spPr>
          <a:xfrm>
            <a:off x="7112000" y="1143000"/>
            <a:ext cx="4267200" cy="4267200"/>
          </a:xfrm>
          <a:prstGeom prst="rect">
            <a:avLst/>
          </a:prstGeom>
        </p:spPr>
      </p:pic>
      <p:pic>
        <p:nvPicPr>
          <p:cNvPr id="4" name="Image 1" descr="Stylised scatter plot with two rising trend lines: a steeper amber line above a gentler teal line"/>
          <p:cNvPicPr>
            <a:picLocks noChangeAspect="1"/>
          </p:cNvPicPr>
          <p:nvPr/>
        </p:nvPicPr>
        <p:blipFill>
          <a:blip r:embed="rId4"/>
          <a:srcRect/>
          <a:stretch/>
        </p:blipFill>
        <p:spPr>
          <a:xfrm>
            <a:off x="7366000" y="1460500"/>
            <a:ext cx="4013200" cy="3581400"/>
          </a:xfrm>
          <a:prstGeom prst="rect">
            <a:avLst/>
          </a:prstGeom>
        </p:spPr>
      </p:pic>
      <p:pic>
        <p:nvPicPr>
          <p:cNvPr id="5" name="Image 2" descr="line"/>
          <p:cNvPicPr>
            <a:picLocks noChangeAspect="1"/>
          </p:cNvPicPr>
          <p:nvPr/>
        </p:nvPicPr>
        <p:blipFill>
          <a:blip r:embed="rId5"/>
          <a:srcRect/>
          <a:stretch/>
        </p:blipFill>
        <p:spPr>
          <a:xfrm>
            <a:off x="812800" y="1646833"/>
            <a:ext cx="609600" cy="25400"/>
          </a:xfrm>
          <a:prstGeom prst="rect">
            <a:avLst/>
          </a:prstGeom>
        </p:spPr>
      </p:pic>
      <p:sp>
        <p:nvSpPr>
          <p:cNvPr id="6" name="Text 1"/>
          <p:cNvSpPr/>
          <p:nvPr/>
        </p:nvSpPr>
        <p:spPr>
          <a:xfrm>
            <a:off x="812800" y="1875433"/>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REGRESSION PROJECT · OCTOBER 2026</a:t>
            </a:r>
            <a:endParaRPr lang="en-US" sz="1200" dirty="0"/>
          </a:p>
        </p:txBody>
      </p:sp>
      <p:sp>
        <p:nvSpPr>
          <p:cNvPr id="7" name="Text 2"/>
          <p:cNvSpPr>
            <a:spLocks noGrp="1"/>
          </p:cNvSpPr>
          <p:nvPr>
            <p:ph type="title"/>
          </p:nvPr>
        </p:nvSpPr>
        <p:spPr>
          <a:xfrm>
            <a:off x="812800" y="2291953"/>
            <a:ext cx="6278880" cy="1366441"/>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6F4EE"/>
                </a:solidFill>
                <a:latin typeface="Source Serif 4" pitchFamily="18" charset="0"/>
                <a:ea typeface="Source Serif 4" pitchFamily="18" charset="-122"/>
                <a:cs typeface="Source Serif 4" pitchFamily="18" charset="-120"/>
              </a:rPr>
              <a:t>Predicting Medical Insurance Charges</a:t>
            </a:r>
            <a:endParaRPr lang="en-US" sz="4800" dirty="0"/>
          </a:p>
        </p:txBody>
      </p:sp>
      <p:sp>
        <p:nvSpPr>
          <p:cNvPr id="8" name="Text 3"/>
          <p:cNvSpPr/>
          <p:nvPr/>
        </p:nvSpPr>
        <p:spPr>
          <a:xfrm>
            <a:off x="812800" y="3836194"/>
            <a:ext cx="6278880" cy="751814"/>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5D5E0"/>
                </a:solidFill>
                <a:latin typeface="IBM Plex Sans" pitchFamily="34" charset="0"/>
                <a:ea typeface="IBM Plex Sans" pitchFamily="34" charset="-122"/>
                <a:cs typeface="IBM Plex Sans" pitchFamily="34" charset="-120"/>
              </a:rPr>
              <a:t>Multiple linear regression with a BMI × smoking interaction</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OVERVIEW</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Roadmap</a:t>
            </a:r>
            <a:endParaRPr lang="en-US" sz="3200" dirty="0"/>
          </a:p>
        </p:txBody>
      </p:sp>
      <p:sp>
        <p:nvSpPr>
          <p:cNvPr id="4" name="Shape 2"/>
          <p:cNvSpPr/>
          <p:nvPr/>
        </p:nvSpPr>
        <p:spPr>
          <a:xfrm>
            <a:off x="815975" y="1806509"/>
            <a:ext cx="1984970" cy="1891705"/>
          </a:xfrm>
          <a:prstGeom prst="roundRect">
            <a:avLst>
              <a:gd name="adj" fmla="val 5203"/>
            </a:avLst>
          </a:prstGeom>
          <a:solidFill>
            <a:srgbClr val="FDFCF9"/>
          </a:solidFill>
          <a:ln w="6350">
            <a:solidFill>
              <a:srgbClr val="D9DFE3"/>
            </a:solidFill>
            <a:prstDash val="solid"/>
          </a:ln>
        </p:spPr>
        <p:txBody>
          <a:bodyPr/>
          <a:lstStyle/>
          <a:p>
            <a:endParaRPr lang="en-US"/>
          </a:p>
        </p:txBody>
      </p:sp>
      <p:sp>
        <p:nvSpPr>
          <p:cNvPr id="5" name="Text 3"/>
          <p:cNvSpPr/>
          <p:nvPr/>
        </p:nvSpPr>
        <p:spPr>
          <a:xfrm>
            <a:off x="994833" y="2010767"/>
            <a:ext cx="1678054"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E7C86"/>
                </a:solidFill>
                <a:latin typeface="Source Serif 4" pitchFamily="18" charset="0"/>
                <a:ea typeface="Source Serif 4" pitchFamily="18" charset="-122"/>
                <a:cs typeface="Source Serif 4" pitchFamily="18" charset="-120"/>
              </a:rPr>
              <a:t>1</a:t>
            </a:r>
            <a:endParaRPr lang="en-US" sz="3200" dirty="0"/>
          </a:p>
        </p:txBody>
      </p:sp>
      <p:sp>
        <p:nvSpPr>
          <p:cNvPr id="6" name="Text 4"/>
          <p:cNvSpPr/>
          <p:nvPr/>
        </p:nvSpPr>
        <p:spPr>
          <a:xfrm>
            <a:off x="994833" y="2533981"/>
            <a:ext cx="1678054"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Objective</a:t>
            </a:r>
            <a:endParaRPr lang="en-US" sz="1600" dirty="0"/>
          </a:p>
        </p:txBody>
      </p:sp>
      <p:sp>
        <p:nvSpPr>
          <p:cNvPr id="7" name="Text 5"/>
          <p:cNvSpPr/>
          <p:nvPr/>
        </p:nvSpPr>
        <p:spPr>
          <a:xfrm>
            <a:off x="994833" y="2853995"/>
            <a:ext cx="16780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Predict charges from six inputs</a:t>
            </a:r>
            <a:endParaRPr lang="en-US" sz="1200" dirty="0"/>
          </a:p>
        </p:txBody>
      </p:sp>
      <p:sp>
        <p:nvSpPr>
          <p:cNvPr id="8" name="Shape 6"/>
          <p:cNvSpPr/>
          <p:nvPr/>
        </p:nvSpPr>
        <p:spPr>
          <a:xfrm>
            <a:off x="2959695" y="1806509"/>
            <a:ext cx="1985037" cy="1891705"/>
          </a:xfrm>
          <a:prstGeom prst="roundRect">
            <a:avLst>
              <a:gd name="adj" fmla="val 5203"/>
            </a:avLst>
          </a:prstGeom>
          <a:solidFill>
            <a:srgbClr val="FDFCF9"/>
          </a:solidFill>
          <a:ln w="6350">
            <a:solidFill>
              <a:srgbClr val="D9DFE3"/>
            </a:solidFill>
            <a:prstDash val="solid"/>
          </a:ln>
        </p:spPr>
        <p:txBody>
          <a:bodyPr/>
          <a:lstStyle/>
          <a:p>
            <a:endParaRPr lang="en-US"/>
          </a:p>
        </p:txBody>
      </p:sp>
      <p:sp>
        <p:nvSpPr>
          <p:cNvPr id="9" name="Text 7"/>
          <p:cNvSpPr/>
          <p:nvPr/>
        </p:nvSpPr>
        <p:spPr>
          <a:xfrm>
            <a:off x="3138554" y="2010767"/>
            <a:ext cx="1678120"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E7C86"/>
                </a:solidFill>
                <a:latin typeface="Source Serif 4" pitchFamily="18" charset="0"/>
                <a:ea typeface="Source Serif 4" pitchFamily="18" charset="-122"/>
                <a:cs typeface="Source Serif 4" pitchFamily="18" charset="-120"/>
              </a:rPr>
              <a:t>2</a:t>
            </a:r>
            <a:endParaRPr lang="en-US" sz="3200" dirty="0"/>
          </a:p>
        </p:txBody>
      </p:sp>
      <p:sp>
        <p:nvSpPr>
          <p:cNvPr id="10" name="Text 8"/>
          <p:cNvSpPr/>
          <p:nvPr/>
        </p:nvSpPr>
        <p:spPr>
          <a:xfrm>
            <a:off x="3138554" y="2533981"/>
            <a:ext cx="167812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Data</a:t>
            </a:r>
            <a:endParaRPr lang="en-US" sz="1600" dirty="0"/>
          </a:p>
        </p:txBody>
      </p:sp>
      <p:sp>
        <p:nvSpPr>
          <p:cNvPr id="11" name="Text 9"/>
          <p:cNvSpPr/>
          <p:nvPr/>
        </p:nvSpPr>
        <p:spPr>
          <a:xfrm>
            <a:off x="3138554" y="2853995"/>
            <a:ext cx="16781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1,338 records, split before any exploration</a:t>
            </a:r>
            <a:endParaRPr lang="en-US" sz="1200" dirty="0"/>
          </a:p>
        </p:txBody>
      </p:sp>
      <p:sp>
        <p:nvSpPr>
          <p:cNvPr id="12" name="Shape 10"/>
          <p:cNvSpPr/>
          <p:nvPr/>
        </p:nvSpPr>
        <p:spPr>
          <a:xfrm>
            <a:off x="5103482" y="1806509"/>
            <a:ext cx="1984970" cy="1891705"/>
          </a:xfrm>
          <a:prstGeom prst="roundRect">
            <a:avLst>
              <a:gd name="adj" fmla="val 5203"/>
            </a:avLst>
          </a:prstGeom>
          <a:solidFill>
            <a:srgbClr val="FDFCF9"/>
          </a:solidFill>
          <a:ln w="6350">
            <a:solidFill>
              <a:srgbClr val="D9DFE3"/>
            </a:solidFill>
            <a:prstDash val="solid"/>
          </a:ln>
        </p:spPr>
        <p:txBody>
          <a:bodyPr/>
          <a:lstStyle/>
          <a:p>
            <a:endParaRPr lang="en-US"/>
          </a:p>
        </p:txBody>
      </p:sp>
      <p:sp>
        <p:nvSpPr>
          <p:cNvPr id="13" name="Text 11"/>
          <p:cNvSpPr/>
          <p:nvPr/>
        </p:nvSpPr>
        <p:spPr>
          <a:xfrm>
            <a:off x="5282340" y="2010767"/>
            <a:ext cx="1678054"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E7C86"/>
                </a:solidFill>
                <a:latin typeface="Source Serif 4" pitchFamily="18" charset="0"/>
                <a:ea typeface="Source Serif 4" pitchFamily="18" charset="-122"/>
                <a:cs typeface="Source Serif 4" pitchFamily="18" charset="-120"/>
              </a:rPr>
              <a:t>3</a:t>
            </a:r>
            <a:endParaRPr lang="en-US" sz="3200" dirty="0"/>
          </a:p>
        </p:txBody>
      </p:sp>
      <p:sp>
        <p:nvSpPr>
          <p:cNvPr id="14" name="Text 12"/>
          <p:cNvSpPr/>
          <p:nvPr/>
        </p:nvSpPr>
        <p:spPr>
          <a:xfrm>
            <a:off x="5282340" y="2533981"/>
            <a:ext cx="1678054"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Methods</a:t>
            </a:r>
            <a:endParaRPr lang="en-US" sz="1600" dirty="0"/>
          </a:p>
        </p:txBody>
      </p:sp>
      <p:sp>
        <p:nvSpPr>
          <p:cNvPr id="15" name="Text 13"/>
          <p:cNvSpPr/>
          <p:nvPr/>
        </p:nvSpPr>
        <p:spPr>
          <a:xfrm>
            <a:off x="5282340" y="2853995"/>
            <a:ext cx="1678054"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Least squares, three candidates, five-fold validation</a:t>
            </a:r>
            <a:endParaRPr lang="en-US" sz="1200" dirty="0"/>
          </a:p>
        </p:txBody>
      </p:sp>
      <p:sp>
        <p:nvSpPr>
          <p:cNvPr id="16" name="Shape 14"/>
          <p:cNvSpPr/>
          <p:nvPr/>
        </p:nvSpPr>
        <p:spPr>
          <a:xfrm>
            <a:off x="7247203" y="1806509"/>
            <a:ext cx="1985037" cy="1891705"/>
          </a:xfrm>
          <a:prstGeom prst="roundRect">
            <a:avLst>
              <a:gd name="adj" fmla="val 5203"/>
            </a:avLst>
          </a:prstGeom>
          <a:solidFill>
            <a:srgbClr val="FDFCF9"/>
          </a:solidFill>
          <a:ln w="6350">
            <a:solidFill>
              <a:srgbClr val="D9DFE3"/>
            </a:solidFill>
            <a:prstDash val="solid"/>
          </a:ln>
        </p:spPr>
        <p:txBody>
          <a:bodyPr/>
          <a:lstStyle/>
          <a:p>
            <a:endParaRPr lang="en-US"/>
          </a:p>
        </p:txBody>
      </p:sp>
      <p:sp>
        <p:nvSpPr>
          <p:cNvPr id="17" name="Text 15"/>
          <p:cNvSpPr/>
          <p:nvPr/>
        </p:nvSpPr>
        <p:spPr>
          <a:xfrm>
            <a:off x="7426061" y="2010767"/>
            <a:ext cx="1678120"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E7C86"/>
                </a:solidFill>
                <a:latin typeface="Source Serif 4" pitchFamily="18" charset="0"/>
                <a:ea typeface="Source Serif 4" pitchFamily="18" charset="-122"/>
                <a:cs typeface="Source Serif 4" pitchFamily="18" charset="-120"/>
              </a:rPr>
              <a:t>4</a:t>
            </a:r>
            <a:endParaRPr lang="en-US" sz="3200" dirty="0"/>
          </a:p>
        </p:txBody>
      </p:sp>
      <p:sp>
        <p:nvSpPr>
          <p:cNvPr id="18" name="Text 16"/>
          <p:cNvSpPr/>
          <p:nvPr/>
        </p:nvSpPr>
        <p:spPr>
          <a:xfrm>
            <a:off x="7426061" y="2533981"/>
            <a:ext cx="167812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Results</a:t>
            </a:r>
            <a:endParaRPr lang="en-US" sz="1600" dirty="0"/>
          </a:p>
        </p:txBody>
      </p:sp>
      <p:sp>
        <p:nvSpPr>
          <p:cNvPr id="19" name="Text 17"/>
          <p:cNvSpPr/>
          <p:nvPr/>
        </p:nvSpPr>
        <p:spPr>
          <a:xfrm>
            <a:off x="7426061" y="2853995"/>
            <a:ext cx="167812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Held-out error and residual</a:t>
            </a:r>
            <a:endParaRPr lang="en-US" sz="1200" dirty="0"/>
          </a:p>
        </p:txBody>
      </p:sp>
      <p:sp>
        <p:nvSpPr>
          <p:cNvPr id="20" name="Shape 18"/>
          <p:cNvSpPr/>
          <p:nvPr/>
        </p:nvSpPr>
        <p:spPr>
          <a:xfrm>
            <a:off x="9390989" y="1806509"/>
            <a:ext cx="1985037" cy="1891705"/>
          </a:xfrm>
          <a:prstGeom prst="roundRect">
            <a:avLst>
              <a:gd name="adj" fmla="val 5203"/>
            </a:avLst>
          </a:prstGeom>
          <a:solidFill>
            <a:srgbClr val="FDFCF9"/>
          </a:solidFill>
          <a:ln w="6350">
            <a:solidFill>
              <a:srgbClr val="D9DFE3"/>
            </a:solidFill>
            <a:prstDash val="solid"/>
          </a:ln>
        </p:spPr>
        <p:txBody>
          <a:bodyPr/>
          <a:lstStyle/>
          <a:p>
            <a:endParaRPr lang="en-US"/>
          </a:p>
        </p:txBody>
      </p:sp>
      <p:sp>
        <p:nvSpPr>
          <p:cNvPr id="21" name="Text 19"/>
          <p:cNvSpPr/>
          <p:nvPr/>
        </p:nvSpPr>
        <p:spPr>
          <a:xfrm>
            <a:off x="9569847" y="2010767"/>
            <a:ext cx="1678120"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E7C86"/>
                </a:solidFill>
                <a:latin typeface="Source Serif 4" pitchFamily="18" charset="0"/>
                <a:ea typeface="Source Serif 4" pitchFamily="18" charset="-122"/>
                <a:cs typeface="Source Serif 4" pitchFamily="18" charset="-120"/>
              </a:rPr>
              <a:t>5</a:t>
            </a:r>
            <a:endParaRPr lang="en-US" sz="3200" dirty="0"/>
          </a:p>
        </p:txBody>
      </p:sp>
      <p:sp>
        <p:nvSpPr>
          <p:cNvPr id="22" name="Text 20"/>
          <p:cNvSpPr/>
          <p:nvPr/>
        </p:nvSpPr>
        <p:spPr>
          <a:xfrm>
            <a:off x="9569847" y="2533981"/>
            <a:ext cx="1678120"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Conclusion</a:t>
            </a:r>
            <a:endParaRPr lang="en-US" sz="1600" dirty="0"/>
          </a:p>
        </p:txBody>
      </p:sp>
      <p:sp>
        <p:nvSpPr>
          <p:cNvPr id="23" name="Text 21"/>
          <p:cNvSpPr/>
          <p:nvPr/>
        </p:nvSpPr>
        <p:spPr>
          <a:xfrm>
            <a:off x="9569847" y="2853995"/>
            <a:ext cx="1678120"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What the evidence does and does not support</a:t>
            </a:r>
            <a:endParaRPr lang="en-US" sz="1200" dirty="0"/>
          </a:p>
        </p:txBody>
      </p:sp>
      <p:sp>
        <p:nvSpPr>
          <p:cNvPr id="24" name="Shape 22"/>
          <p:cNvSpPr/>
          <p:nvPr/>
        </p:nvSpPr>
        <p:spPr>
          <a:xfrm>
            <a:off x="821426" y="3955389"/>
            <a:ext cx="10566400" cy="1366375"/>
          </a:xfrm>
          <a:prstGeom prst="roundRect">
            <a:avLst>
              <a:gd name="adj" fmla="val 7436"/>
            </a:avLst>
          </a:prstGeom>
          <a:solidFill>
            <a:srgbClr val="0F2A43"/>
          </a:solidFill>
          <a:ln/>
        </p:spPr>
        <p:txBody>
          <a:bodyPr/>
          <a:lstStyle/>
          <a:p>
            <a:endParaRPr lang="en-US"/>
          </a:p>
        </p:txBody>
      </p:sp>
      <p:sp>
        <p:nvSpPr>
          <p:cNvPr id="25" name="Text 23"/>
          <p:cNvSpPr/>
          <p:nvPr/>
        </p:nvSpPr>
        <p:spPr>
          <a:xfrm>
            <a:off x="1117600" y="4209389"/>
            <a:ext cx="1025550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HEADLINE RESULT</a:t>
            </a:r>
            <a:endParaRPr lang="en-US" sz="1200" dirty="0"/>
          </a:p>
        </p:txBody>
      </p:sp>
      <p:sp>
        <p:nvSpPr>
          <p:cNvPr id="26" name="Text 24"/>
          <p:cNvSpPr/>
          <p:nvPr/>
        </p:nvSpPr>
        <p:spPr>
          <a:xfrm>
            <a:off x="1117600" y="4498909"/>
            <a:ext cx="10255504"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Multiple OLS with a BMI × smoking interaction was selected. On 268 reserved test rows it reaches MAE 2,828.53, RMSE 4,572.84 and R² 0.8862.</a:t>
            </a:r>
            <a:endParaRPr lang="en-US" sz="1600" dirty="0"/>
          </a:p>
        </p:txBody>
      </p:sp>
      <p:sp>
        <p:nvSpPr>
          <p:cNvPr id="27" name="Text 25"/>
          <p:cNvSpPr/>
          <p:nvPr/>
        </p:nvSpPr>
        <p:spPr>
          <a:xfrm>
            <a:off x="821426" y="6246906"/>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1 · OBJECTIVE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Predict recorded insurance charges</a:t>
            </a:r>
            <a:endParaRPr lang="en-US" sz="3200" dirty="0"/>
          </a:p>
        </p:txBody>
      </p:sp>
      <p:sp>
        <p:nvSpPr>
          <p:cNvPr id="4" name="Text 2"/>
          <p:cNvSpPr/>
          <p:nvPr/>
        </p:nvSpPr>
        <p:spPr>
          <a:xfrm>
            <a:off x="812800" y="1752535"/>
            <a:ext cx="10883392"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Estimate the insurance charge recorded for a person from their age, sex, BMI, number of children, smoking status and region. The target is a number, so this is regression, not classification.</a:t>
            </a:r>
            <a:endParaRPr lang="en-US" sz="1600" dirty="0"/>
          </a:p>
        </p:txBody>
      </p:sp>
      <p:sp>
        <p:nvSpPr>
          <p:cNvPr id="5" name="Shape 3"/>
          <p:cNvSpPr/>
          <p:nvPr/>
        </p:nvSpPr>
        <p:spPr>
          <a:xfrm>
            <a:off x="815975" y="2527764"/>
            <a:ext cx="3567113" cy="1602184"/>
          </a:xfrm>
          <a:prstGeom prst="roundRect">
            <a:avLst>
              <a:gd name="adj" fmla="val 6143"/>
            </a:avLst>
          </a:prstGeom>
          <a:solidFill>
            <a:srgbClr val="FDFCF9"/>
          </a:solidFill>
          <a:ln w="6350">
            <a:solidFill>
              <a:srgbClr val="D9DFE3"/>
            </a:solidFill>
            <a:prstDash val="solid"/>
          </a:ln>
        </p:spPr>
        <p:txBody>
          <a:bodyPr/>
          <a:lstStyle/>
          <a:p>
            <a:endParaRPr lang="en-US"/>
          </a:p>
        </p:txBody>
      </p:sp>
      <p:sp>
        <p:nvSpPr>
          <p:cNvPr id="6" name="Text 4"/>
          <p:cNvSpPr/>
          <p:nvPr/>
        </p:nvSpPr>
        <p:spPr>
          <a:xfrm>
            <a:off x="1020233" y="2732022"/>
            <a:ext cx="3253354"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Six inputs</a:t>
            </a:r>
            <a:endParaRPr lang="en-US" sz="1600" dirty="0"/>
          </a:p>
        </p:txBody>
      </p:sp>
      <p:sp>
        <p:nvSpPr>
          <p:cNvPr id="7" name="Text 5"/>
          <p:cNvSpPr/>
          <p:nvPr/>
        </p:nvSpPr>
        <p:spPr>
          <a:xfrm>
            <a:off x="1020233" y="3077435"/>
            <a:ext cx="580165" cy="386027"/>
          </a:xfrm>
          <a:custGeom>
            <a:avLst/>
            <a:gdLst/>
            <a:ahLst/>
            <a:cxnLst/>
            <a:rect l="l" t="t" r="r" b="b"/>
            <a:pathLst>
              <a:path w="580165" h="386027">
                <a:moveTo>
                  <a:pt x="193014" y="0"/>
                </a:moveTo>
                <a:lnTo>
                  <a:pt x="387152" y="0"/>
                </a:lnTo>
                <a:arcTo wR="193014" hR="193014" stAng="16200000" swAng="5400000"/>
                <a:lnTo>
                  <a:pt x="580165" y="193014"/>
                </a:lnTo>
                <a:arcTo wR="193014" hR="193014" stAng="0" swAng="5400000"/>
                <a:lnTo>
                  <a:pt x="193014" y="386027"/>
                </a:lnTo>
                <a:arcTo wR="193014" hR="193014" stAng="5400000" swAng="5400000"/>
                <a:lnTo>
                  <a:pt x="0" y="193014"/>
                </a:lnTo>
                <a:arcTo wR="193014" hR="193014" stAng="10800000" swAng="5400000"/>
                <a:close/>
              </a:path>
            </a:pathLst>
          </a:custGeom>
          <a:solidFill>
            <a:srgbClr val="E8EEF1"/>
          </a:solidFill>
          <a:ln/>
        </p:spPr>
        <p:txBody>
          <a:bodyPr wrap="none" lIns="0" tIns="0" rIns="0" bIns="0" rtlCol="0" anchor="ctr">
            <a:normAutofit/>
          </a:bodyPr>
          <a:lstStyle/>
          <a:p>
            <a:pPr marL="0" indent="0" algn="ctr">
              <a:lnSpc>
                <a:spcPts val="2240"/>
              </a:lnSpc>
              <a:buNone/>
            </a:pPr>
            <a:r>
              <a:rPr lang="en-US" sz="1600" dirty="0">
                <a:solidFill>
                  <a:srgbClr val="0F2A43"/>
                </a:solidFill>
                <a:latin typeface="IBM Plex Sans" pitchFamily="34" charset="0"/>
                <a:ea typeface="IBM Plex Sans" pitchFamily="34" charset="-122"/>
                <a:cs typeface="IBM Plex Sans" pitchFamily="34" charset="-120"/>
              </a:rPr>
              <a:t>age</a:t>
            </a:r>
            <a:endParaRPr lang="en-US" sz="1600" dirty="0"/>
          </a:p>
        </p:txBody>
      </p:sp>
      <p:sp>
        <p:nvSpPr>
          <p:cNvPr id="8" name="Text 6"/>
          <p:cNvSpPr/>
          <p:nvPr/>
        </p:nvSpPr>
        <p:spPr>
          <a:xfrm>
            <a:off x="1676598" y="3077435"/>
            <a:ext cx="565150" cy="386027"/>
          </a:xfrm>
          <a:custGeom>
            <a:avLst/>
            <a:gdLst/>
            <a:ahLst/>
            <a:cxnLst/>
            <a:rect l="l" t="t" r="r" b="b"/>
            <a:pathLst>
              <a:path w="565150" h="386027">
                <a:moveTo>
                  <a:pt x="193014" y="0"/>
                </a:moveTo>
                <a:lnTo>
                  <a:pt x="372136" y="0"/>
                </a:lnTo>
                <a:arcTo wR="193014" hR="193014" stAng="16200000" swAng="5400000"/>
                <a:lnTo>
                  <a:pt x="565150" y="193014"/>
                </a:lnTo>
                <a:arcTo wR="193014" hR="193014" stAng="0" swAng="5400000"/>
                <a:lnTo>
                  <a:pt x="193014" y="386027"/>
                </a:lnTo>
                <a:arcTo wR="193014" hR="193014" stAng="5400000" swAng="5400000"/>
                <a:lnTo>
                  <a:pt x="0" y="193014"/>
                </a:lnTo>
                <a:arcTo wR="193014" hR="193014" stAng="10800000" swAng="5400000"/>
                <a:close/>
              </a:path>
            </a:pathLst>
          </a:custGeom>
          <a:solidFill>
            <a:srgbClr val="E8EEF1"/>
          </a:solidFill>
          <a:ln/>
        </p:spPr>
        <p:txBody>
          <a:bodyPr wrap="none" lIns="0" tIns="0" rIns="0" bIns="0" rtlCol="0" anchor="ctr">
            <a:normAutofit/>
          </a:bodyPr>
          <a:lstStyle/>
          <a:p>
            <a:pPr marL="0" indent="0" algn="ctr">
              <a:lnSpc>
                <a:spcPts val="2240"/>
              </a:lnSpc>
              <a:buNone/>
            </a:pPr>
            <a:r>
              <a:rPr lang="en-US" sz="1600" dirty="0">
                <a:solidFill>
                  <a:srgbClr val="0F2A43"/>
                </a:solidFill>
                <a:latin typeface="IBM Plex Sans" pitchFamily="34" charset="0"/>
                <a:ea typeface="IBM Plex Sans" pitchFamily="34" charset="-122"/>
                <a:cs typeface="IBM Plex Sans" pitchFamily="34" charset="-120"/>
              </a:rPr>
              <a:t>sex</a:t>
            </a:r>
            <a:endParaRPr lang="en-US" sz="1600" dirty="0"/>
          </a:p>
        </p:txBody>
      </p:sp>
      <p:sp>
        <p:nvSpPr>
          <p:cNvPr id="9" name="Text 7"/>
          <p:cNvSpPr/>
          <p:nvPr/>
        </p:nvSpPr>
        <p:spPr>
          <a:xfrm>
            <a:off x="2317948" y="3077435"/>
            <a:ext cx="633016" cy="386027"/>
          </a:xfrm>
          <a:custGeom>
            <a:avLst/>
            <a:gdLst/>
            <a:ahLst/>
            <a:cxnLst/>
            <a:rect l="l" t="t" r="r" b="b"/>
            <a:pathLst>
              <a:path w="633016" h="386027">
                <a:moveTo>
                  <a:pt x="193014" y="0"/>
                </a:moveTo>
                <a:lnTo>
                  <a:pt x="440002" y="0"/>
                </a:lnTo>
                <a:arcTo wR="193014" hR="193014" stAng="16200000" swAng="5400000"/>
                <a:lnTo>
                  <a:pt x="633016" y="193014"/>
                </a:lnTo>
                <a:arcTo wR="193014" hR="193014" stAng="0" swAng="5400000"/>
                <a:lnTo>
                  <a:pt x="193014" y="386027"/>
                </a:lnTo>
                <a:arcTo wR="193014" hR="193014" stAng="5400000" swAng="5400000"/>
                <a:lnTo>
                  <a:pt x="0" y="193014"/>
                </a:lnTo>
                <a:arcTo wR="193014" hR="193014" stAng="10800000" swAng="5400000"/>
                <a:close/>
              </a:path>
            </a:pathLst>
          </a:custGeom>
          <a:solidFill>
            <a:srgbClr val="E8EEF1"/>
          </a:solidFill>
          <a:ln/>
        </p:spPr>
        <p:txBody>
          <a:bodyPr wrap="none" lIns="0" tIns="0" rIns="0" bIns="0" rtlCol="0" anchor="ctr">
            <a:normAutofit/>
          </a:bodyPr>
          <a:lstStyle/>
          <a:p>
            <a:pPr marL="0" indent="0" algn="ctr">
              <a:lnSpc>
                <a:spcPts val="2240"/>
              </a:lnSpc>
              <a:buNone/>
            </a:pPr>
            <a:r>
              <a:rPr lang="en-US" sz="1600" dirty="0">
                <a:solidFill>
                  <a:srgbClr val="0F2A43"/>
                </a:solidFill>
                <a:latin typeface="IBM Plex Sans" pitchFamily="34" charset="0"/>
                <a:ea typeface="IBM Plex Sans" pitchFamily="34" charset="-122"/>
                <a:cs typeface="IBM Plex Sans" pitchFamily="34" charset="-120"/>
              </a:rPr>
              <a:t>BMI</a:t>
            </a:r>
            <a:endParaRPr lang="en-US" sz="1600" dirty="0"/>
          </a:p>
        </p:txBody>
      </p:sp>
      <p:sp>
        <p:nvSpPr>
          <p:cNvPr id="10" name="Text 8"/>
          <p:cNvSpPr/>
          <p:nvPr/>
        </p:nvSpPr>
        <p:spPr>
          <a:xfrm>
            <a:off x="3027164" y="3077435"/>
            <a:ext cx="996090" cy="386027"/>
          </a:xfrm>
          <a:custGeom>
            <a:avLst/>
            <a:gdLst/>
            <a:ahLst/>
            <a:cxnLst/>
            <a:rect l="l" t="t" r="r" b="b"/>
            <a:pathLst>
              <a:path w="996090" h="386027">
                <a:moveTo>
                  <a:pt x="193014" y="0"/>
                </a:moveTo>
                <a:lnTo>
                  <a:pt x="803077" y="0"/>
                </a:lnTo>
                <a:arcTo wR="193014" hR="193014" stAng="16200000" swAng="5400000"/>
                <a:lnTo>
                  <a:pt x="996090" y="193014"/>
                </a:lnTo>
                <a:arcTo wR="193014" hR="193014" stAng="0" swAng="5400000"/>
                <a:lnTo>
                  <a:pt x="193014" y="386027"/>
                </a:lnTo>
                <a:arcTo wR="193014" hR="193014" stAng="5400000" swAng="5400000"/>
                <a:lnTo>
                  <a:pt x="0" y="193014"/>
                </a:lnTo>
                <a:arcTo wR="193014" hR="193014" stAng="10800000" swAng="5400000"/>
                <a:close/>
              </a:path>
            </a:pathLst>
          </a:custGeom>
          <a:solidFill>
            <a:srgbClr val="E8EEF1"/>
          </a:solidFill>
          <a:ln/>
        </p:spPr>
        <p:txBody>
          <a:bodyPr wrap="none" lIns="0" tIns="0" rIns="0" bIns="0" rtlCol="0" anchor="ctr">
            <a:normAutofit/>
          </a:bodyPr>
          <a:lstStyle/>
          <a:p>
            <a:pPr marL="0" indent="0" algn="ctr">
              <a:lnSpc>
                <a:spcPts val="2240"/>
              </a:lnSpc>
              <a:buNone/>
            </a:pPr>
            <a:r>
              <a:rPr lang="en-US" sz="1600" dirty="0">
                <a:solidFill>
                  <a:srgbClr val="0F2A43"/>
                </a:solidFill>
                <a:latin typeface="IBM Plex Sans" pitchFamily="34" charset="0"/>
                <a:ea typeface="IBM Plex Sans" pitchFamily="34" charset="-122"/>
                <a:cs typeface="IBM Plex Sans" pitchFamily="34" charset="-120"/>
              </a:rPr>
              <a:t>children</a:t>
            </a:r>
            <a:endParaRPr lang="en-US" sz="1600" dirty="0"/>
          </a:p>
        </p:txBody>
      </p:sp>
      <p:sp>
        <p:nvSpPr>
          <p:cNvPr id="11" name="Text 9"/>
          <p:cNvSpPr/>
          <p:nvPr/>
        </p:nvSpPr>
        <p:spPr>
          <a:xfrm>
            <a:off x="1020233" y="3539663"/>
            <a:ext cx="933913" cy="386027"/>
          </a:xfrm>
          <a:custGeom>
            <a:avLst/>
            <a:gdLst/>
            <a:ahLst/>
            <a:cxnLst/>
            <a:rect l="l" t="t" r="r" b="b"/>
            <a:pathLst>
              <a:path w="933913" h="386027">
                <a:moveTo>
                  <a:pt x="193014" y="0"/>
                </a:moveTo>
                <a:lnTo>
                  <a:pt x="740900" y="0"/>
                </a:lnTo>
                <a:arcTo wR="193014" hR="193014" stAng="16200000" swAng="5400000"/>
                <a:lnTo>
                  <a:pt x="933913" y="193014"/>
                </a:lnTo>
                <a:arcTo wR="193014" hR="193014" stAng="0" swAng="5400000"/>
                <a:lnTo>
                  <a:pt x="193014" y="386027"/>
                </a:lnTo>
                <a:arcTo wR="193014" hR="193014" stAng="5400000" swAng="5400000"/>
                <a:lnTo>
                  <a:pt x="0" y="193014"/>
                </a:lnTo>
                <a:arcTo wR="193014" hR="193014" stAng="10800000" swAng="5400000"/>
                <a:close/>
              </a:path>
            </a:pathLst>
          </a:custGeom>
          <a:solidFill>
            <a:srgbClr val="E8EEF1"/>
          </a:solidFill>
          <a:ln/>
        </p:spPr>
        <p:txBody>
          <a:bodyPr wrap="none" lIns="0" tIns="0" rIns="0" bIns="0" rtlCol="0" anchor="ctr">
            <a:normAutofit/>
          </a:bodyPr>
          <a:lstStyle/>
          <a:p>
            <a:pPr marL="0" indent="0" algn="ctr">
              <a:lnSpc>
                <a:spcPts val="2240"/>
              </a:lnSpc>
              <a:buNone/>
            </a:pPr>
            <a:r>
              <a:rPr lang="en-US" sz="1600" dirty="0">
                <a:solidFill>
                  <a:srgbClr val="0F2A43"/>
                </a:solidFill>
                <a:latin typeface="IBM Plex Sans" pitchFamily="34" charset="0"/>
                <a:ea typeface="IBM Plex Sans" pitchFamily="34" charset="-122"/>
                <a:cs typeface="IBM Plex Sans" pitchFamily="34" charset="-120"/>
              </a:rPr>
              <a:t>smoker</a:t>
            </a:r>
            <a:endParaRPr lang="en-US" sz="1600" dirty="0"/>
          </a:p>
        </p:txBody>
      </p:sp>
      <p:sp>
        <p:nvSpPr>
          <p:cNvPr id="12" name="Text 10"/>
          <p:cNvSpPr/>
          <p:nvPr/>
        </p:nvSpPr>
        <p:spPr>
          <a:xfrm>
            <a:off x="2030346" y="3539663"/>
            <a:ext cx="826426" cy="386027"/>
          </a:xfrm>
          <a:custGeom>
            <a:avLst/>
            <a:gdLst/>
            <a:ahLst/>
            <a:cxnLst/>
            <a:rect l="l" t="t" r="r" b="b"/>
            <a:pathLst>
              <a:path w="826426" h="386027">
                <a:moveTo>
                  <a:pt x="193014" y="0"/>
                </a:moveTo>
                <a:lnTo>
                  <a:pt x="633413" y="0"/>
                </a:lnTo>
                <a:arcTo wR="193014" hR="193014" stAng="16200000" swAng="5400000"/>
                <a:lnTo>
                  <a:pt x="826426" y="193014"/>
                </a:lnTo>
                <a:arcTo wR="193014" hR="193014" stAng="0" swAng="5400000"/>
                <a:lnTo>
                  <a:pt x="193014" y="386027"/>
                </a:lnTo>
                <a:arcTo wR="193014" hR="193014" stAng="5400000" swAng="5400000"/>
                <a:lnTo>
                  <a:pt x="0" y="193014"/>
                </a:lnTo>
                <a:arcTo wR="193014" hR="193014" stAng="10800000" swAng="5400000"/>
                <a:close/>
              </a:path>
            </a:pathLst>
          </a:custGeom>
          <a:solidFill>
            <a:srgbClr val="E8EEF1"/>
          </a:solidFill>
          <a:ln/>
        </p:spPr>
        <p:txBody>
          <a:bodyPr wrap="none" lIns="0" tIns="0" rIns="0" bIns="0" rtlCol="0" anchor="ctr">
            <a:normAutofit/>
          </a:bodyPr>
          <a:lstStyle/>
          <a:p>
            <a:pPr marL="0" indent="0" algn="ctr">
              <a:lnSpc>
                <a:spcPts val="2240"/>
              </a:lnSpc>
              <a:buNone/>
            </a:pPr>
            <a:r>
              <a:rPr lang="en-US" sz="1600" dirty="0">
                <a:solidFill>
                  <a:srgbClr val="0F2A43"/>
                </a:solidFill>
                <a:latin typeface="IBM Plex Sans" pitchFamily="34" charset="0"/>
                <a:ea typeface="IBM Plex Sans" pitchFamily="34" charset="-122"/>
                <a:cs typeface="IBM Plex Sans" pitchFamily="34" charset="-120"/>
              </a:rPr>
              <a:t>region</a:t>
            </a:r>
            <a:endParaRPr lang="en-US" sz="1600" dirty="0"/>
          </a:p>
        </p:txBody>
      </p:sp>
      <p:pic>
        <p:nvPicPr>
          <p:cNvPr id="13" name="Image 0" descr="arrow-right"/>
          <p:cNvPicPr>
            <a:picLocks noChangeAspect="1"/>
          </p:cNvPicPr>
          <p:nvPr/>
        </p:nvPicPr>
        <p:blipFill>
          <a:blip r:embed="rId3"/>
          <a:srcRect/>
          <a:stretch/>
        </p:blipFill>
        <p:spPr>
          <a:xfrm>
            <a:off x="4487863" y="3214556"/>
            <a:ext cx="457200" cy="228600"/>
          </a:xfrm>
          <a:prstGeom prst="rect">
            <a:avLst/>
          </a:prstGeom>
        </p:spPr>
      </p:pic>
      <p:sp>
        <p:nvSpPr>
          <p:cNvPr id="14" name="Shape 11"/>
          <p:cNvSpPr/>
          <p:nvPr/>
        </p:nvSpPr>
        <p:spPr>
          <a:xfrm>
            <a:off x="5046663" y="2524589"/>
            <a:ext cx="2836069" cy="1608534"/>
          </a:xfrm>
          <a:prstGeom prst="roundRect">
            <a:avLst>
              <a:gd name="adj" fmla="val 6316"/>
            </a:avLst>
          </a:prstGeom>
          <a:solidFill>
            <a:srgbClr val="0F2A43"/>
          </a:solidFill>
          <a:ln/>
        </p:spPr>
        <p:txBody>
          <a:bodyPr/>
          <a:lstStyle/>
          <a:p>
            <a:endParaRPr lang="en-US"/>
          </a:p>
        </p:txBody>
      </p:sp>
      <p:sp>
        <p:nvSpPr>
          <p:cNvPr id="15" name="Text 12"/>
          <p:cNvSpPr/>
          <p:nvPr/>
        </p:nvSpPr>
        <p:spPr>
          <a:xfrm>
            <a:off x="5249863" y="2727789"/>
            <a:ext cx="2502559"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6F4EE"/>
                </a:solidFill>
                <a:latin typeface="IBM Plex Sans" pitchFamily="34" charset="0"/>
                <a:ea typeface="IBM Plex Sans" pitchFamily="34" charset="-122"/>
                <a:cs typeface="IBM Plex Sans" pitchFamily="34" charset="-120"/>
              </a:rPr>
              <a:t>Multiple OLS</a:t>
            </a:r>
            <a:endParaRPr lang="en-US" sz="1600" dirty="0"/>
          </a:p>
        </p:txBody>
      </p:sp>
      <p:sp>
        <p:nvSpPr>
          <p:cNvPr id="16" name="Text 13"/>
          <p:cNvSpPr/>
          <p:nvPr/>
        </p:nvSpPr>
        <p:spPr>
          <a:xfrm>
            <a:off x="5249863" y="3073202"/>
            <a:ext cx="2502559"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D5E0"/>
                </a:solidFill>
                <a:latin typeface="IBM Plex Sans" pitchFamily="34" charset="0"/>
                <a:ea typeface="IBM Plex Sans" pitchFamily="34" charset="-122"/>
                <a:cs typeface="IBM Plex Sans" pitchFamily="34" charset="-120"/>
              </a:rPr>
              <a:t>Learns from training data the average charge for people with similar inputs</a:t>
            </a:r>
            <a:endParaRPr lang="en-US" sz="1200" dirty="0"/>
          </a:p>
        </p:txBody>
      </p:sp>
      <p:pic>
        <p:nvPicPr>
          <p:cNvPr id="17" name="Image 1" descr="arrow-right"/>
          <p:cNvPicPr>
            <a:picLocks noChangeAspect="1"/>
          </p:cNvPicPr>
          <p:nvPr/>
        </p:nvPicPr>
        <p:blipFill>
          <a:blip r:embed="rId3"/>
          <a:srcRect/>
          <a:stretch/>
        </p:blipFill>
        <p:spPr>
          <a:xfrm>
            <a:off x="7984331" y="3214556"/>
            <a:ext cx="457200" cy="228600"/>
          </a:xfrm>
          <a:prstGeom prst="rect">
            <a:avLst/>
          </a:prstGeom>
        </p:spPr>
      </p:pic>
      <p:sp>
        <p:nvSpPr>
          <p:cNvPr id="18" name="Shape 14"/>
          <p:cNvSpPr/>
          <p:nvPr/>
        </p:nvSpPr>
        <p:spPr>
          <a:xfrm>
            <a:off x="8543131" y="2524589"/>
            <a:ext cx="2836069" cy="1608534"/>
          </a:xfrm>
          <a:prstGeom prst="roundRect">
            <a:avLst>
              <a:gd name="adj" fmla="val 6316"/>
            </a:avLst>
          </a:prstGeom>
          <a:solidFill>
            <a:srgbClr val="E8A33D"/>
          </a:solidFill>
          <a:ln/>
        </p:spPr>
        <p:txBody>
          <a:bodyPr/>
          <a:lstStyle/>
          <a:p>
            <a:endParaRPr lang="en-US"/>
          </a:p>
        </p:txBody>
      </p:sp>
      <p:sp>
        <p:nvSpPr>
          <p:cNvPr id="19" name="Text 15"/>
          <p:cNvSpPr/>
          <p:nvPr/>
        </p:nvSpPr>
        <p:spPr>
          <a:xfrm>
            <a:off x="8746331" y="2727789"/>
            <a:ext cx="2502559"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Predicted charge</a:t>
            </a:r>
            <a:endParaRPr lang="en-US" sz="1600" dirty="0"/>
          </a:p>
        </p:txBody>
      </p:sp>
      <p:sp>
        <p:nvSpPr>
          <p:cNvPr id="20" name="Text 16"/>
          <p:cNvSpPr/>
          <p:nvPr/>
        </p:nvSpPr>
        <p:spPr>
          <a:xfrm>
            <a:off x="8746331" y="3073202"/>
            <a:ext cx="250255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2A43"/>
                </a:solidFill>
                <a:latin typeface="IBM Plex Sans" pitchFamily="34" charset="0"/>
                <a:ea typeface="IBM Plex Sans" pitchFamily="34" charset="-122"/>
                <a:cs typeface="IBM Plex Sans" pitchFamily="34" charset="-120"/>
              </a:rPr>
              <a:t>One number, in charge units</a:t>
            </a:r>
            <a:endParaRPr lang="en-US" sz="1200" dirty="0"/>
          </a:p>
        </p:txBody>
      </p:sp>
      <p:sp>
        <p:nvSpPr>
          <p:cNvPr id="21" name="Text 17"/>
          <p:cNvSpPr/>
          <p:nvPr/>
        </p:nvSpPr>
        <p:spPr>
          <a:xfrm>
            <a:off x="812800" y="4336323"/>
            <a:ext cx="1088339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Example: a 34-year-old smoker with BMI 31.92 and one child goes in, and a predicted charge comes out.</a:t>
            </a:r>
            <a:endParaRPr lang="en-US" sz="1600" dirty="0"/>
          </a:p>
        </p:txBody>
      </p:sp>
      <p:sp>
        <p:nvSpPr>
          <p:cNvPr id="22" name="Text 18"/>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1 · OBJECTIVE</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Objectives and scope</a:t>
            </a:r>
            <a:endParaRPr lang="en-US" sz="3200" dirty="0"/>
          </a:p>
        </p:txBody>
      </p:sp>
      <p:sp>
        <p:nvSpPr>
          <p:cNvPr id="4" name="Shape 2"/>
          <p:cNvSpPr/>
          <p:nvPr/>
        </p:nvSpPr>
        <p:spPr>
          <a:xfrm>
            <a:off x="815975" y="1806510"/>
            <a:ext cx="5175250" cy="3009106"/>
          </a:xfrm>
          <a:prstGeom prst="roundRect">
            <a:avLst>
              <a:gd name="adj" fmla="val 3271"/>
            </a:avLst>
          </a:prstGeom>
          <a:solidFill>
            <a:srgbClr val="FDFCF9"/>
          </a:solidFill>
          <a:ln w="6350">
            <a:solidFill>
              <a:srgbClr val="D9DFE3"/>
            </a:solidFill>
            <a:prstDash val="solid"/>
          </a:ln>
        </p:spPr>
        <p:txBody>
          <a:bodyPr/>
          <a:lstStyle/>
          <a:p>
            <a:endParaRPr lang="en-US"/>
          </a:p>
        </p:txBody>
      </p:sp>
      <p:sp>
        <p:nvSpPr>
          <p:cNvPr id="5" name="Text 3"/>
          <p:cNvSpPr/>
          <p:nvPr/>
        </p:nvSpPr>
        <p:spPr>
          <a:xfrm>
            <a:off x="1071033" y="2061567"/>
            <a:ext cx="4805087" cy="36062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F2A43"/>
                </a:solidFill>
                <a:latin typeface="Source Serif 4" pitchFamily="18" charset="0"/>
                <a:ea typeface="Source Serif 4" pitchFamily="18" charset="-122"/>
                <a:cs typeface="Source Serif 4" pitchFamily="18" charset="-120"/>
              </a:rPr>
              <a:t>What we set out to do</a:t>
            </a:r>
            <a:endParaRPr lang="en-US" sz="2200" dirty="0"/>
          </a:p>
        </p:txBody>
      </p:sp>
      <p:pic>
        <p:nvPicPr>
          <p:cNvPr id="6" name="Image 0" descr="Check"/>
          <p:cNvPicPr>
            <a:picLocks noChangeAspect="1"/>
          </p:cNvPicPr>
          <p:nvPr/>
        </p:nvPicPr>
        <p:blipFill>
          <a:blip r:embed="rId3"/>
          <a:srcRect/>
          <a:stretch/>
        </p:blipFill>
        <p:spPr>
          <a:xfrm>
            <a:off x="1071033" y="2549195"/>
            <a:ext cx="254000" cy="254000"/>
          </a:xfrm>
          <a:prstGeom prst="rect">
            <a:avLst/>
          </a:prstGeom>
        </p:spPr>
      </p:pic>
      <p:sp>
        <p:nvSpPr>
          <p:cNvPr id="7" name="Text 4"/>
          <p:cNvSpPr/>
          <p:nvPr/>
        </p:nvSpPr>
        <p:spPr>
          <a:xfrm>
            <a:off x="1452033" y="2549195"/>
            <a:ext cx="4316730"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Predict charges accurately for observations the model has not seen</a:t>
            </a:r>
            <a:endParaRPr lang="en-US" sz="1600" dirty="0"/>
          </a:p>
        </p:txBody>
      </p:sp>
      <p:pic>
        <p:nvPicPr>
          <p:cNvPr id="8" name="Image 1" descr="Check"/>
          <p:cNvPicPr>
            <a:picLocks noChangeAspect="1"/>
          </p:cNvPicPr>
          <p:nvPr/>
        </p:nvPicPr>
        <p:blipFill>
          <a:blip r:embed="rId3"/>
          <a:srcRect/>
          <a:stretch/>
        </p:blipFill>
        <p:spPr>
          <a:xfrm>
            <a:off x="1071033" y="3270448"/>
            <a:ext cx="254000" cy="254000"/>
          </a:xfrm>
          <a:prstGeom prst="rect">
            <a:avLst/>
          </a:prstGeom>
        </p:spPr>
      </p:pic>
      <p:sp>
        <p:nvSpPr>
          <p:cNvPr id="9" name="Text 5"/>
          <p:cNvSpPr/>
          <p:nvPr/>
        </p:nvSpPr>
        <p:spPr>
          <a:xfrm>
            <a:off x="1452033" y="3270448"/>
            <a:ext cx="4316730"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Compare candidate models fairly, on the same validation folds</a:t>
            </a:r>
            <a:endParaRPr lang="en-US" sz="1600" dirty="0"/>
          </a:p>
        </p:txBody>
      </p:sp>
      <p:pic>
        <p:nvPicPr>
          <p:cNvPr id="10" name="Image 2" descr="Check"/>
          <p:cNvPicPr>
            <a:picLocks noChangeAspect="1"/>
          </p:cNvPicPr>
          <p:nvPr/>
        </p:nvPicPr>
        <p:blipFill>
          <a:blip r:embed="rId3"/>
          <a:srcRect/>
          <a:stretch/>
        </p:blipFill>
        <p:spPr>
          <a:xfrm>
            <a:off x="1071033" y="3991704"/>
            <a:ext cx="254000" cy="254000"/>
          </a:xfrm>
          <a:prstGeom prst="rect">
            <a:avLst/>
          </a:prstGeom>
        </p:spPr>
      </p:pic>
      <p:sp>
        <p:nvSpPr>
          <p:cNvPr id="11" name="Text 6"/>
          <p:cNvSpPr/>
          <p:nvPr/>
        </p:nvSpPr>
        <p:spPr>
          <a:xfrm>
            <a:off x="1452033" y="3991704"/>
            <a:ext cx="4316730"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Inspect residuals and influential points before trusting the result</a:t>
            </a:r>
            <a:endParaRPr lang="en-US" sz="1600" dirty="0"/>
          </a:p>
        </p:txBody>
      </p:sp>
      <p:sp>
        <p:nvSpPr>
          <p:cNvPr id="12" name="Shape 7"/>
          <p:cNvSpPr/>
          <p:nvPr/>
        </p:nvSpPr>
        <p:spPr>
          <a:xfrm>
            <a:off x="6200775" y="1806510"/>
            <a:ext cx="5175250" cy="3009106"/>
          </a:xfrm>
          <a:prstGeom prst="roundRect">
            <a:avLst>
              <a:gd name="adj" fmla="val 3271"/>
            </a:avLst>
          </a:prstGeom>
          <a:solidFill>
            <a:srgbClr val="E8EEF1"/>
          </a:solidFill>
          <a:ln w="6350">
            <a:solidFill>
              <a:srgbClr val="D9DFE3"/>
            </a:solidFill>
            <a:prstDash val="solid"/>
          </a:ln>
        </p:spPr>
        <p:txBody>
          <a:bodyPr/>
          <a:lstStyle/>
          <a:p>
            <a:endParaRPr lang="en-US"/>
          </a:p>
        </p:txBody>
      </p:sp>
      <p:sp>
        <p:nvSpPr>
          <p:cNvPr id="13" name="Text 8"/>
          <p:cNvSpPr/>
          <p:nvPr/>
        </p:nvSpPr>
        <p:spPr>
          <a:xfrm>
            <a:off x="6455833" y="2061567"/>
            <a:ext cx="4805087" cy="36062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F2A43"/>
                </a:solidFill>
                <a:latin typeface="Source Serif 4" pitchFamily="18" charset="0"/>
                <a:ea typeface="Source Serif 4" pitchFamily="18" charset="-122"/>
                <a:cs typeface="Source Serif 4" pitchFamily="18" charset="-120"/>
              </a:rPr>
              <a:t>What the data cannot show</a:t>
            </a:r>
            <a:endParaRPr lang="en-US" sz="2200" dirty="0"/>
          </a:p>
        </p:txBody>
      </p:sp>
      <p:pic>
        <p:nvPicPr>
          <p:cNvPr id="14" name="Image 3" descr="Warning"/>
          <p:cNvPicPr>
            <a:picLocks noChangeAspect="1"/>
          </p:cNvPicPr>
          <p:nvPr/>
        </p:nvPicPr>
        <p:blipFill>
          <a:blip r:embed="rId4"/>
          <a:srcRect/>
          <a:stretch/>
        </p:blipFill>
        <p:spPr>
          <a:xfrm>
            <a:off x="6455833" y="2549195"/>
            <a:ext cx="254000" cy="254000"/>
          </a:xfrm>
          <a:prstGeom prst="rect">
            <a:avLst/>
          </a:prstGeom>
        </p:spPr>
      </p:pic>
      <p:sp>
        <p:nvSpPr>
          <p:cNvPr id="15" name="Text 9"/>
          <p:cNvSpPr/>
          <p:nvPr/>
        </p:nvSpPr>
        <p:spPr>
          <a:xfrm>
            <a:off x="6836834" y="2549195"/>
            <a:ext cx="431673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A causal effect of smoking on charges</a:t>
            </a:r>
            <a:endParaRPr lang="en-US" sz="1600" dirty="0"/>
          </a:p>
        </p:txBody>
      </p:sp>
      <p:pic>
        <p:nvPicPr>
          <p:cNvPr id="16" name="Image 4" descr="Warning"/>
          <p:cNvPicPr>
            <a:picLocks noChangeAspect="1"/>
          </p:cNvPicPr>
          <p:nvPr/>
        </p:nvPicPr>
        <p:blipFill>
          <a:blip r:embed="rId4"/>
          <a:srcRect/>
          <a:stretch/>
        </p:blipFill>
        <p:spPr>
          <a:xfrm>
            <a:off x="6455833" y="2986022"/>
            <a:ext cx="254000" cy="254000"/>
          </a:xfrm>
          <a:prstGeom prst="rect">
            <a:avLst/>
          </a:prstGeom>
        </p:spPr>
      </p:pic>
      <p:sp>
        <p:nvSpPr>
          <p:cNvPr id="17" name="Text 10"/>
          <p:cNvSpPr/>
          <p:nvPr/>
        </p:nvSpPr>
        <p:spPr>
          <a:xfrm>
            <a:off x="6836834" y="2986022"/>
            <a:ext cx="4316730"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All healthcare spending, or fair and valid premiums in India</a:t>
            </a:r>
            <a:endParaRPr lang="en-US" sz="1600" dirty="0"/>
          </a:p>
        </p:txBody>
      </p:sp>
      <p:pic>
        <p:nvPicPr>
          <p:cNvPr id="18" name="Image 5" descr="Warning"/>
          <p:cNvPicPr>
            <a:picLocks noChangeAspect="1"/>
          </p:cNvPicPr>
          <p:nvPr/>
        </p:nvPicPr>
        <p:blipFill>
          <a:blip r:embed="rId4"/>
          <a:srcRect/>
          <a:stretch/>
        </p:blipFill>
        <p:spPr>
          <a:xfrm>
            <a:off x="6455833" y="3707276"/>
            <a:ext cx="254000" cy="254000"/>
          </a:xfrm>
          <a:prstGeom prst="rect">
            <a:avLst/>
          </a:prstGeom>
        </p:spPr>
      </p:pic>
      <p:sp>
        <p:nvSpPr>
          <p:cNvPr id="19" name="Text 11"/>
          <p:cNvSpPr/>
          <p:nvPr/>
        </p:nvSpPr>
        <p:spPr>
          <a:xfrm>
            <a:off x="6836834" y="3707276"/>
            <a:ext cx="4316730"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Diagnoses, policy design or time trends: the data has none</a:t>
            </a:r>
            <a:endParaRPr lang="en-US" sz="1600" dirty="0"/>
          </a:p>
        </p:txBody>
      </p:sp>
      <p:sp>
        <p:nvSpPr>
          <p:cNvPr id="20" name="Text 12"/>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2 · DATA</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Dataset overview</a:t>
            </a:r>
            <a:endParaRPr lang="en-US" sz="3200" dirty="0"/>
          </a:p>
        </p:txBody>
      </p:sp>
      <p:sp>
        <p:nvSpPr>
          <p:cNvPr id="4" name="Shape 2"/>
          <p:cNvSpPr/>
          <p:nvPr/>
        </p:nvSpPr>
        <p:spPr>
          <a:xfrm>
            <a:off x="815975" y="1806510"/>
            <a:ext cx="1974850" cy="1068851"/>
          </a:xfrm>
          <a:prstGeom prst="roundRect">
            <a:avLst>
              <a:gd name="adj" fmla="val 9208"/>
            </a:avLst>
          </a:prstGeom>
          <a:solidFill>
            <a:srgbClr val="FDFCF9"/>
          </a:solidFill>
          <a:ln w="6350">
            <a:solidFill>
              <a:srgbClr val="D9DFE3"/>
            </a:solidFill>
            <a:prstDash val="solid"/>
          </a:ln>
        </p:spPr>
        <p:txBody>
          <a:bodyPr/>
          <a:lstStyle/>
          <a:p>
            <a:endParaRPr lang="en-US"/>
          </a:p>
        </p:txBody>
      </p:sp>
      <p:sp>
        <p:nvSpPr>
          <p:cNvPr id="5" name="Text 3"/>
          <p:cNvSpPr/>
          <p:nvPr/>
        </p:nvSpPr>
        <p:spPr>
          <a:xfrm>
            <a:off x="994833" y="1985367"/>
            <a:ext cx="1667933"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E7C86"/>
                </a:solidFill>
                <a:latin typeface="Source Serif 4" pitchFamily="18" charset="0"/>
                <a:ea typeface="Source Serif 4" pitchFamily="18" charset="-122"/>
                <a:cs typeface="Source Serif 4" pitchFamily="18" charset="-120"/>
              </a:rPr>
              <a:t>1,338</a:t>
            </a:r>
            <a:endParaRPr lang="en-US" sz="3200" dirty="0"/>
          </a:p>
        </p:txBody>
      </p:sp>
      <p:sp>
        <p:nvSpPr>
          <p:cNvPr id="6" name="Text 4"/>
          <p:cNvSpPr/>
          <p:nvPr/>
        </p:nvSpPr>
        <p:spPr>
          <a:xfrm>
            <a:off x="994833" y="2483182"/>
            <a:ext cx="16679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records</a:t>
            </a:r>
            <a:endParaRPr lang="en-US" sz="1200" dirty="0"/>
          </a:p>
        </p:txBody>
      </p:sp>
      <p:sp>
        <p:nvSpPr>
          <p:cNvPr id="7" name="Shape 5"/>
          <p:cNvSpPr/>
          <p:nvPr/>
        </p:nvSpPr>
        <p:spPr>
          <a:xfrm>
            <a:off x="2898775" y="1806510"/>
            <a:ext cx="1974850" cy="1068851"/>
          </a:xfrm>
          <a:prstGeom prst="roundRect">
            <a:avLst>
              <a:gd name="adj" fmla="val 9208"/>
            </a:avLst>
          </a:prstGeom>
          <a:solidFill>
            <a:srgbClr val="FDFCF9"/>
          </a:solidFill>
          <a:ln w="6350">
            <a:solidFill>
              <a:srgbClr val="D9DFE3"/>
            </a:solidFill>
            <a:prstDash val="solid"/>
          </a:ln>
        </p:spPr>
        <p:txBody>
          <a:bodyPr/>
          <a:lstStyle/>
          <a:p>
            <a:endParaRPr lang="en-US"/>
          </a:p>
        </p:txBody>
      </p:sp>
      <p:sp>
        <p:nvSpPr>
          <p:cNvPr id="8" name="Text 6"/>
          <p:cNvSpPr/>
          <p:nvPr/>
        </p:nvSpPr>
        <p:spPr>
          <a:xfrm>
            <a:off x="3077633" y="1985367"/>
            <a:ext cx="1667933"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E7C86"/>
                </a:solidFill>
                <a:latin typeface="Source Serif 4" pitchFamily="18" charset="0"/>
                <a:ea typeface="Source Serif 4" pitchFamily="18" charset="-122"/>
                <a:cs typeface="Source Serif 4" pitchFamily="18" charset="-120"/>
              </a:rPr>
              <a:t>7</a:t>
            </a:r>
            <a:endParaRPr lang="en-US" sz="3200" dirty="0"/>
          </a:p>
        </p:txBody>
      </p:sp>
      <p:sp>
        <p:nvSpPr>
          <p:cNvPr id="9" name="Text 7"/>
          <p:cNvSpPr/>
          <p:nvPr/>
        </p:nvSpPr>
        <p:spPr>
          <a:xfrm>
            <a:off x="3077633" y="2483182"/>
            <a:ext cx="16679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columns</a:t>
            </a:r>
            <a:endParaRPr lang="en-US" sz="1200" dirty="0"/>
          </a:p>
        </p:txBody>
      </p:sp>
      <p:sp>
        <p:nvSpPr>
          <p:cNvPr id="10" name="Shape 8"/>
          <p:cNvSpPr/>
          <p:nvPr/>
        </p:nvSpPr>
        <p:spPr>
          <a:xfrm>
            <a:off x="815975" y="2983309"/>
            <a:ext cx="1974850" cy="1282171"/>
          </a:xfrm>
          <a:prstGeom prst="roundRect">
            <a:avLst>
              <a:gd name="adj" fmla="val 7676"/>
            </a:avLst>
          </a:prstGeom>
          <a:solidFill>
            <a:srgbClr val="FDFCF9"/>
          </a:solidFill>
          <a:ln w="6350">
            <a:solidFill>
              <a:srgbClr val="D9DFE3"/>
            </a:solidFill>
            <a:prstDash val="solid"/>
          </a:ln>
        </p:spPr>
        <p:txBody>
          <a:bodyPr/>
          <a:lstStyle/>
          <a:p>
            <a:endParaRPr lang="en-US"/>
          </a:p>
        </p:txBody>
      </p:sp>
      <p:sp>
        <p:nvSpPr>
          <p:cNvPr id="11" name="Text 9"/>
          <p:cNvSpPr/>
          <p:nvPr/>
        </p:nvSpPr>
        <p:spPr>
          <a:xfrm>
            <a:off x="994833" y="3162170"/>
            <a:ext cx="1667933"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E7C86"/>
                </a:solidFill>
                <a:latin typeface="Source Serif 4" pitchFamily="18" charset="0"/>
                <a:ea typeface="Source Serif 4" pitchFamily="18" charset="-122"/>
                <a:cs typeface="Source Serif 4" pitchFamily="18" charset="-120"/>
              </a:rPr>
              <a:t>0</a:t>
            </a:r>
            <a:endParaRPr lang="en-US" sz="3200" dirty="0"/>
          </a:p>
        </p:txBody>
      </p:sp>
      <p:sp>
        <p:nvSpPr>
          <p:cNvPr id="12" name="Text 10"/>
          <p:cNvSpPr/>
          <p:nvPr/>
        </p:nvSpPr>
        <p:spPr>
          <a:xfrm>
            <a:off x="994833" y="3659981"/>
            <a:ext cx="166793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missing values</a:t>
            </a:r>
            <a:endParaRPr lang="en-US" sz="1200" dirty="0"/>
          </a:p>
        </p:txBody>
      </p:sp>
      <p:sp>
        <p:nvSpPr>
          <p:cNvPr id="13" name="Shape 11"/>
          <p:cNvSpPr/>
          <p:nvPr/>
        </p:nvSpPr>
        <p:spPr>
          <a:xfrm>
            <a:off x="2898775" y="2983309"/>
            <a:ext cx="1974850" cy="1282171"/>
          </a:xfrm>
          <a:prstGeom prst="roundRect">
            <a:avLst>
              <a:gd name="adj" fmla="val 7676"/>
            </a:avLst>
          </a:prstGeom>
          <a:solidFill>
            <a:srgbClr val="FDFCF9"/>
          </a:solidFill>
          <a:ln w="6350">
            <a:solidFill>
              <a:srgbClr val="D9DFE3"/>
            </a:solidFill>
            <a:prstDash val="solid"/>
          </a:ln>
        </p:spPr>
        <p:txBody>
          <a:bodyPr/>
          <a:lstStyle/>
          <a:p>
            <a:endParaRPr lang="en-US"/>
          </a:p>
        </p:txBody>
      </p:sp>
      <p:sp>
        <p:nvSpPr>
          <p:cNvPr id="14" name="Text 12"/>
          <p:cNvSpPr/>
          <p:nvPr/>
        </p:nvSpPr>
        <p:spPr>
          <a:xfrm>
            <a:off x="3077633" y="3162170"/>
            <a:ext cx="1667933"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E7C86"/>
                </a:solidFill>
                <a:latin typeface="Source Serif 4" pitchFamily="18" charset="0"/>
                <a:ea typeface="Source Serif 4" pitchFamily="18" charset="-122"/>
                <a:cs typeface="Source Serif 4" pitchFamily="18" charset="-120"/>
              </a:rPr>
              <a:t>1</a:t>
            </a:r>
            <a:endParaRPr lang="en-US" sz="3200" dirty="0"/>
          </a:p>
        </p:txBody>
      </p:sp>
      <p:sp>
        <p:nvSpPr>
          <p:cNvPr id="15" name="Text 13"/>
          <p:cNvSpPr/>
          <p:nvPr/>
        </p:nvSpPr>
        <p:spPr>
          <a:xfrm>
            <a:off x="3077633" y="3659981"/>
            <a:ext cx="166793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exact duplicate pair, kept</a:t>
            </a:r>
            <a:endParaRPr lang="en-US" sz="1200" dirty="0"/>
          </a:p>
        </p:txBody>
      </p:sp>
      <p:sp>
        <p:nvSpPr>
          <p:cNvPr id="16" name="Text 14"/>
          <p:cNvSpPr/>
          <p:nvPr/>
        </p:nvSpPr>
        <p:spPr>
          <a:xfrm>
            <a:off x="812800" y="4421057"/>
            <a:ext cx="418592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Charges are in charge units: the CSV does not state a currency or period.</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295900" y="1816035"/>
          <a:ext cx="6083300" cy="3514728"/>
        </p:xfrm>
        <a:graphic>
          <a:graphicData uri="http://schemas.openxmlformats.org/drawingml/2006/table">
            <a:tbl>
              <a:tblPr/>
              <a:tblGrid>
                <a:gridCol w="1703324">
                  <a:extLst>
                    <a:ext uri="{9D8B030D-6E8A-4147-A177-3AD203B41FA5}">
                      <a16:colId xmlns:a16="http://schemas.microsoft.com/office/drawing/2014/main" val="20000"/>
                    </a:ext>
                  </a:extLst>
                </a:gridCol>
                <a:gridCol w="2676652">
                  <a:extLst>
                    <a:ext uri="{9D8B030D-6E8A-4147-A177-3AD203B41FA5}">
                      <a16:colId xmlns:a16="http://schemas.microsoft.com/office/drawing/2014/main" val="20001"/>
                    </a:ext>
                  </a:extLst>
                </a:gridCol>
                <a:gridCol w="1703324">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Column</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Recorded values</a:t>
                      </a:r>
                      <a:endParaRPr lang="en-US" sz="1600" dirty="0">
                        <a:latin typeface="IBM Plex Sans" charset="0"/>
                        <a:ea typeface="IBM Plex Sans" charset="0"/>
                        <a:cs typeface="IBM Plex Sans" charset="0"/>
                      </a:endParaRPr>
                    </a:p>
                  </a:txBody>
                  <a:tcPr marL="71120" marR="71120" marT="71120" marB="71120">
                    <a:lnL w="12700" cap="flat" cmpd="sng" algn="ctr">
                      <a:solidFill>
                        <a:srgbClr val="102538"/>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Role</a:t>
                      </a:r>
                      <a:endParaRPr lang="en-US" sz="1600" dirty="0">
                        <a:latin typeface="IBM Plex Sans" charset="0"/>
                        <a:ea typeface="IBM Plex Sans" charset="0"/>
                        <a:cs typeface="IBM Plex Sans" charset="0"/>
                      </a:endParaRPr>
                    </a:p>
                  </a:txBody>
                  <a:tcPr marL="71120" marR="71120" marT="71120" marB="71120">
                    <a:lnL w="12700" cap="flat" cmpd="sng" algn="ctr">
                      <a:solidFill>
                        <a:srgbClr val="102538"/>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age</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18–64</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Numerical</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sex</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female, male</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Categorical</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bmi</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15.96–53.13</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Numerical</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children</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0–5</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Count</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extLst>
                  <a:ext uri="{0D108BD9-81ED-4DB2-BD59-A6C34878D82A}">
                    <a16:rowId xmlns:a16="http://schemas.microsoft.com/office/drawing/2014/main" val="10004"/>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smoker</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no, yes</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Binary</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5"/>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region</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4 regions</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Nominal</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extLst>
                  <a:ext uri="{0D108BD9-81ED-4DB2-BD59-A6C34878D82A}">
                    <a16:rowId xmlns:a16="http://schemas.microsoft.com/office/drawing/2014/main" val="10006"/>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charges</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1,121.87–63,770.43</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Target</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7"/>
                  </a:ext>
                </a:extLst>
              </a:tr>
            </a:tbl>
          </a:graphicData>
        </a:graphic>
      </p:graphicFrame>
      <p:sp>
        <p:nvSpPr>
          <p:cNvPr id="18" name="Text 15"/>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2 · DATA</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Split first: train, validate, test</a:t>
            </a:r>
            <a:endParaRPr lang="en-US" sz="3200" dirty="0"/>
          </a:p>
        </p:txBody>
      </p:sp>
      <p:sp>
        <p:nvSpPr>
          <p:cNvPr id="4" name="Shape 2"/>
          <p:cNvSpPr/>
          <p:nvPr/>
        </p:nvSpPr>
        <p:spPr>
          <a:xfrm>
            <a:off x="815975" y="1806510"/>
            <a:ext cx="3380317" cy="1861212"/>
          </a:xfrm>
          <a:prstGeom prst="roundRect">
            <a:avLst>
              <a:gd name="adj" fmla="val 5288"/>
            </a:avLst>
          </a:prstGeom>
          <a:solidFill>
            <a:srgbClr val="FDFCF9"/>
          </a:solidFill>
          <a:ln w="6350">
            <a:solidFill>
              <a:srgbClr val="D9DFE3"/>
            </a:solidFill>
            <a:prstDash val="solid"/>
          </a:ln>
        </p:spPr>
        <p:txBody>
          <a:bodyPr/>
          <a:lstStyle/>
          <a:p>
            <a:endParaRPr lang="en-US"/>
          </a:p>
        </p:txBody>
      </p:sp>
      <p:sp>
        <p:nvSpPr>
          <p:cNvPr id="5" name="Text 3"/>
          <p:cNvSpPr/>
          <p:nvPr/>
        </p:nvSpPr>
        <p:spPr>
          <a:xfrm>
            <a:off x="1020233" y="2010767"/>
            <a:ext cx="306095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TRAINING</a:t>
            </a:r>
            <a:endParaRPr lang="en-US" sz="1200" dirty="0"/>
          </a:p>
        </p:txBody>
      </p:sp>
      <p:sp>
        <p:nvSpPr>
          <p:cNvPr id="6" name="Text 4"/>
          <p:cNvSpPr/>
          <p:nvPr/>
        </p:nvSpPr>
        <p:spPr>
          <a:xfrm>
            <a:off x="1020233" y="2274888"/>
            <a:ext cx="3060954"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F2A43"/>
                </a:solidFill>
                <a:latin typeface="Source Serif 4" pitchFamily="18" charset="0"/>
                <a:ea typeface="Source Serif 4" pitchFamily="18" charset="-122"/>
                <a:cs typeface="Source Serif 4" pitchFamily="18" charset="-120"/>
              </a:rPr>
              <a:t>1,070</a:t>
            </a:r>
            <a:endParaRPr lang="en-US" sz="3200" dirty="0"/>
          </a:p>
        </p:txBody>
      </p:sp>
      <p:sp>
        <p:nvSpPr>
          <p:cNvPr id="7" name="Text 5"/>
          <p:cNvSpPr/>
          <p:nvPr/>
        </p:nvSpPr>
        <p:spPr>
          <a:xfrm>
            <a:off x="1020233" y="2772702"/>
            <a:ext cx="30609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2A43"/>
                </a:solidFill>
                <a:latin typeface="IBM Plex Sans" pitchFamily="34" charset="0"/>
                <a:ea typeface="IBM Plex Sans" pitchFamily="34" charset="-122"/>
                <a:cs typeface="IBM Plex Sans" pitchFamily="34" charset="-120"/>
              </a:rPr>
              <a:t>observations</a:t>
            </a:r>
            <a:endParaRPr lang="en-US" sz="1200" dirty="0"/>
          </a:p>
        </p:txBody>
      </p:sp>
      <p:sp>
        <p:nvSpPr>
          <p:cNvPr id="8" name="Text 6"/>
          <p:cNvSpPr/>
          <p:nvPr/>
        </p:nvSpPr>
        <p:spPr>
          <a:xfrm>
            <a:off x="1020233" y="3036822"/>
            <a:ext cx="30609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Exploration, fitting, diagnostics and cross-validation</a:t>
            </a:r>
            <a:endParaRPr lang="en-US" sz="1200" dirty="0"/>
          </a:p>
        </p:txBody>
      </p:sp>
      <p:sp>
        <p:nvSpPr>
          <p:cNvPr id="9" name="Shape 7"/>
          <p:cNvSpPr/>
          <p:nvPr/>
        </p:nvSpPr>
        <p:spPr>
          <a:xfrm>
            <a:off x="4405842" y="1806510"/>
            <a:ext cx="3380317" cy="1861212"/>
          </a:xfrm>
          <a:prstGeom prst="roundRect">
            <a:avLst>
              <a:gd name="adj" fmla="val 5288"/>
            </a:avLst>
          </a:prstGeom>
          <a:solidFill>
            <a:srgbClr val="FDFCF9"/>
          </a:solidFill>
          <a:ln w="6350">
            <a:solidFill>
              <a:srgbClr val="D9DFE3"/>
            </a:solidFill>
            <a:prstDash val="solid"/>
          </a:ln>
        </p:spPr>
        <p:txBody>
          <a:bodyPr/>
          <a:lstStyle/>
          <a:p>
            <a:endParaRPr lang="en-US"/>
          </a:p>
        </p:txBody>
      </p:sp>
      <p:sp>
        <p:nvSpPr>
          <p:cNvPr id="10" name="Text 8"/>
          <p:cNvSpPr/>
          <p:nvPr/>
        </p:nvSpPr>
        <p:spPr>
          <a:xfrm>
            <a:off x="4610100" y="2010767"/>
            <a:ext cx="306095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VALIDATION</a:t>
            </a:r>
            <a:endParaRPr lang="en-US" sz="1200" dirty="0"/>
          </a:p>
        </p:txBody>
      </p:sp>
      <p:sp>
        <p:nvSpPr>
          <p:cNvPr id="11" name="Text 9"/>
          <p:cNvSpPr/>
          <p:nvPr/>
        </p:nvSpPr>
        <p:spPr>
          <a:xfrm>
            <a:off x="4610100" y="2274888"/>
            <a:ext cx="3060954"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F2A43"/>
                </a:solidFill>
                <a:latin typeface="Source Serif 4" pitchFamily="18" charset="0"/>
                <a:ea typeface="Source Serif 4" pitchFamily="18" charset="-122"/>
                <a:cs typeface="Source Serif 4" pitchFamily="18" charset="-120"/>
              </a:rPr>
              <a:t>5 folds</a:t>
            </a:r>
            <a:endParaRPr lang="en-US" sz="3200" dirty="0"/>
          </a:p>
        </p:txBody>
      </p:sp>
      <p:sp>
        <p:nvSpPr>
          <p:cNvPr id="12" name="Text 10"/>
          <p:cNvSpPr/>
          <p:nvPr/>
        </p:nvSpPr>
        <p:spPr>
          <a:xfrm>
            <a:off x="4610100" y="2772702"/>
            <a:ext cx="30609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2A43"/>
                </a:solidFill>
                <a:latin typeface="IBM Plex Sans" pitchFamily="34" charset="0"/>
                <a:ea typeface="IBM Plex Sans" pitchFamily="34" charset="-122"/>
                <a:cs typeface="IBM Plex Sans" pitchFamily="34" charset="-120"/>
              </a:rPr>
              <a:t>inside the training data</a:t>
            </a:r>
            <a:endParaRPr lang="en-US" sz="1200" dirty="0"/>
          </a:p>
        </p:txBody>
      </p:sp>
      <p:sp>
        <p:nvSpPr>
          <p:cNvPr id="13" name="Text 11"/>
          <p:cNvSpPr/>
          <p:nvPr/>
        </p:nvSpPr>
        <p:spPr>
          <a:xfrm>
            <a:off x="4610100" y="3036822"/>
            <a:ext cx="30609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Compare candidate models on identical folds</a:t>
            </a:r>
            <a:endParaRPr lang="en-US" sz="1200" dirty="0"/>
          </a:p>
        </p:txBody>
      </p:sp>
      <p:sp>
        <p:nvSpPr>
          <p:cNvPr id="14" name="Shape 12"/>
          <p:cNvSpPr/>
          <p:nvPr/>
        </p:nvSpPr>
        <p:spPr>
          <a:xfrm>
            <a:off x="7995709" y="1806510"/>
            <a:ext cx="3380317" cy="1861212"/>
          </a:xfrm>
          <a:prstGeom prst="roundRect">
            <a:avLst>
              <a:gd name="adj" fmla="val 5288"/>
            </a:avLst>
          </a:prstGeom>
          <a:solidFill>
            <a:srgbClr val="FDFCF9"/>
          </a:solidFill>
          <a:ln w="6350">
            <a:solidFill>
              <a:srgbClr val="D9DFE3"/>
            </a:solidFill>
            <a:prstDash val="solid"/>
          </a:ln>
        </p:spPr>
        <p:txBody>
          <a:bodyPr/>
          <a:lstStyle/>
          <a:p>
            <a:endParaRPr lang="en-US"/>
          </a:p>
        </p:txBody>
      </p:sp>
      <p:sp>
        <p:nvSpPr>
          <p:cNvPr id="15" name="Text 13"/>
          <p:cNvSpPr/>
          <p:nvPr/>
        </p:nvSpPr>
        <p:spPr>
          <a:xfrm>
            <a:off x="8199967" y="2010767"/>
            <a:ext cx="3060954"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RESERVED TEST</a:t>
            </a:r>
            <a:endParaRPr lang="en-US" sz="1200" dirty="0"/>
          </a:p>
        </p:txBody>
      </p:sp>
      <p:sp>
        <p:nvSpPr>
          <p:cNvPr id="16" name="Text 14"/>
          <p:cNvSpPr/>
          <p:nvPr/>
        </p:nvSpPr>
        <p:spPr>
          <a:xfrm>
            <a:off x="8199967" y="2274888"/>
            <a:ext cx="3060954"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F2A43"/>
                </a:solidFill>
                <a:latin typeface="Source Serif 4" pitchFamily="18" charset="0"/>
                <a:ea typeface="Source Serif 4" pitchFamily="18" charset="-122"/>
                <a:cs typeface="Source Serif 4" pitchFamily="18" charset="-120"/>
              </a:rPr>
              <a:t>268</a:t>
            </a:r>
            <a:endParaRPr lang="en-US" sz="3200" dirty="0"/>
          </a:p>
        </p:txBody>
      </p:sp>
      <p:sp>
        <p:nvSpPr>
          <p:cNvPr id="17" name="Text 15"/>
          <p:cNvSpPr/>
          <p:nvPr/>
        </p:nvSpPr>
        <p:spPr>
          <a:xfrm>
            <a:off x="8199967" y="2772702"/>
            <a:ext cx="3060954"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0F2A43"/>
                </a:solidFill>
                <a:latin typeface="IBM Plex Sans" pitchFamily="34" charset="0"/>
                <a:ea typeface="IBM Plex Sans" pitchFamily="34" charset="-122"/>
                <a:cs typeface="IBM Plex Sans" pitchFamily="34" charset="-120"/>
              </a:rPr>
              <a:t>observations</a:t>
            </a:r>
            <a:endParaRPr lang="en-US" sz="1200" dirty="0"/>
          </a:p>
        </p:txBody>
      </p:sp>
      <p:sp>
        <p:nvSpPr>
          <p:cNvPr id="18" name="Text 16"/>
          <p:cNvSpPr/>
          <p:nvPr/>
        </p:nvSpPr>
        <p:spPr>
          <a:xfrm>
            <a:off x="8199967" y="3036822"/>
            <a:ext cx="3060954"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One final evaluation, after the model is chosen</a:t>
            </a:r>
            <a:endParaRPr lang="en-US" sz="1200" dirty="0"/>
          </a:p>
        </p:txBody>
      </p:sp>
      <p:grpSp>
        <p:nvGrpSpPr>
          <p:cNvPr id="24" name="Group 23">
            <a:extLst>
              <a:ext uri="{FF2B5EF4-FFF2-40B4-BE49-F238E27FC236}">
                <a16:creationId xmlns:a16="http://schemas.microsoft.com/office/drawing/2014/main" id="{3924B9B9-F7E7-13DB-59E6-0C51883DED8D}"/>
              </a:ext>
            </a:extLst>
          </p:cNvPr>
          <p:cNvGrpSpPr/>
          <p:nvPr/>
        </p:nvGrpSpPr>
        <p:grpSpPr>
          <a:xfrm>
            <a:off x="1898770" y="4300980"/>
            <a:ext cx="8377208" cy="1279987"/>
            <a:chOff x="-578724" y="4234143"/>
            <a:chExt cx="10566400" cy="1366375"/>
          </a:xfrm>
        </p:grpSpPr>
        <p:sp>
          <p:nvSpPr>
            <p:cNvPr id="19" name="Shape 17"/>
            <p:cNvSpPr/>
            <p:nvPr/>
          </p:nvSpPr>
          <p:spPr>
            <a:xfrm>
              <a:off x="-578724" y="4234143"/>
              <a:ext cx="10566400" cy="1366375"/>
            </a:xfrm>
            <a:prstGeom prst="roundRect">
              <a:avLst>
                <a:gd name="adj" fmla="val 7436"/>
              </a:avLst>
            </a:prstGeom>
            <a:solidFill>
              <a:srgbClr val="0F2A43"/>
            </a:solidFill>
            <a:ln/>
          </p:spPr>
          <p:txBody>
            <a:bodyPr/>
            <a:lstStyle/>
            <a:p>
              <a:endParaRPr lang="en-US"/>
            </a:p>
          </p:txBody>
        </p:sp>
        <p:sp>
          <p:nvSpPr>
            <p:cNvPr id="20" name="Text 18"/>
            <p:cNvSpPr/>
            <p:nvPr/>
          </p:nvSpPr>
          <p:spPr>
            <a:xfrm>
              <a:off x="-273924" y="4488142"/>
              <a:ext cx="1025550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DUPLICATES AND GROUPING</a:t>
              </a:r>
              <a:endParaRPr lang="en-US" sz="1200" dirty="0"/>
            </a:p>
          </p:txBody>
        </p:sp>
        <p:sp>
          <p:nvSpPr>
            <p:cNvPr id="21" name="Text 19"/>
            <p:cNvSpPr/>
            <p:nvPr/>
          </p:nvSpPr>
          <p:spPr>
            <a:xfrm>
              <a:off x="-273924" y="4777663"/>
              <a:ext cx="10255506"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Rows 195 and 581 match in all seven columns, so identical records are grouped. </a:t>
              </a:r>
            </a:p>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GroupShuffleSplit with seed 42 reserves about 20% of the unique-record groups.</a:t>
              </a:r>
              <a:endParaRPr lang="en-US" sz="1600" dirty="0"/>
            </a:p>
          </p:txBody>
        </p:sp>
      </p:grpSp>
      <p:sp>
        <p:nvSpPr>
          <p:cNvPr id="22" name="Text 20"/>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2 · DATA</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Charges have a long right tail</a:t>
            </a:r>
            <a:endParaRPr lang="en-US" sz="3200" dirty="0"/>
          </a:p>
        </p:txBody>
      </p:sp>
      <p:sp>
        <p:nvSpPr>
          <p:cNvPr id="4" name="Shape 2"/>
          <p:cNvSpPr/>
          <p:nvPr/>
        </p:nvSpPr>
        <p:spPr>
          <a:xfrm>
            <a:off x="815975" y="1806510"/>
            <a:ext cx="5835650" cy="3780367"/>
          </a:xfrm>
          <a:prstGeom prst="roundRect">
            <a:avLst>
              <a:gd name="adj" fmla="val 2604"/>
            </a:avLst>
          </a:prstGeom>
          <a:solidFill>
            <a:srgbClr val="FFFFFF"/>
          </a:solidFill>
          <a:ln w="6350">
            <a:solidFill>
              <a:srgbClr val="D9DFE3"/>
            </a:solidFill>
            <a:prstDash val="solid"/>
          </a:ln>
        </p:spPr>
        <p:txBody>
          <a:bodyPr/>
          <a:lstStyle/>
          <a:p>
            <a:endParaRPr lang="en-US"/>
          </a:p>
        </p:txBody>
      </p:sp>
      <p:pic>
        <p:nvPicPr>
          <p:cNvPr id="5" name="Image 0" descr="Four histograms of training age, BMI, children and charges; charges are heavily right-skewed"/>
          <p:cNvPicPr>
            <a:picLocks noChangeAspect="1"/>
          </p:cNvPicPr>
          <p:nvPr/>
        </p:nvPicPr>
        <p:blipFill>
          <a:blip r:embed="rId3"/>
          <a:srcRect l="-15" r="-15"/>
          <a:stretch/>
        </p:blipFill>
        <p:spPr>
          <a:xfrm>
            <a:off x="944033" y="1934567"/>
            <a:ext cx="5588000" cy="3524250"/>
          </a:xfrm>
          <a:prstGeom prst="rect">
            <a:avLst/>
          </a:prstGeom>
        </p:spPr>
      </p:pic>
      <p:sp>
        <p:nvSpPr>
          <p:cNvPr id="6" name="Text 3"/>
          <p:cNvSpPr/>
          <p:nvPr/>
        </p:nvSpPr>
        <p:spPr>
          <a:xfrm>
            <a:off x="7061200" y="1803335"/>
            <a:ext cx="4447540"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E7C86"/>
                </a:solidFill>
                <a:latin typeface="Source Serif 4" pitchFamily="18" charset="0"/>
                <a:ea typeface="Source Serif 4" pitchFamily="18" charset="-122"/>
                <a:cs typeface="Source Serif 4" pitchFamily="18" charset="-120"/>
              </a:rPr>
              <a:t>13,019.56</a:t>
            </a:r>
            <a:endParaRPr lang="en-US" sz="3200" dirty="0"/>
          </a:p>
        </p:txBody>
      </p:sp>
      <p:sp>
        <p:nvSpPr>
          <p:cNvPr id="7" name="Text 4"/>
          <p:cNvSpPr/>
          <p:nvPr/>
        </p:nvSpPr>
        <p:spPr>
          <a:xfrm>
            <a:off x="7061200" y="2275749"/>
            <a:ext cx="44475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mean charge, training data</a:t>
            </a:r>
            <a:endParaRPr lang="en-US" sz="1200" dirty="0"/>
          </a:p>
        </p:txBody>
      </p:sp>
      <p:sp>
        <p:nvSpPr>
          <p:cNvPr id="8" name="Text 5"/>
          <p:cNvSpPr/>
          <p:nvPr/>
        </p:nvSpPr>
        <p:spPr>
          <a:xfrm>
            <a:off x="7061200" y="2616070"/>
            <a:ext cx="4447540"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E7C86"/>
                </a:solidFill>
                <a:latin typeface="Source Serif 4" pitchFamily="18" charset="0"/>
                <a:ea typeface="Source Serif 4" pitchFamily="18" charset="-122"/>
                <a:cs typeface="Source Serif 4" pitchFamily="18" charset="-120"/>
              </a:rPr>
              <a:t>9,289.08</a:t>
            </a:r>
            <a:endParaRPr lang="en-US" sz="3200" dirty="0"/>
          </a:p>
        </p:txBody>
      </p:sp>
      <p:sp>
        <p:nvSpPr>
          <p:cNvPr id="9" name="Text 6"/>
          <p:cNvSpPr/>
          <p:nvPr/>
        </p:nvSpPr>
        <p:spPr>
          <a:xfrm>
            <a:off x="7061200" y="3088481"/>
            <a:ext cx="44475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median charge</a:t>
            </a:r>
            <a:endParaRPr lang="en-US" sz="1200" dirty="0"/>
          </a:p>
        </p:txBody>
      </p:sp>
      <p:sp>
        <p:nvSpPr>
          <p:cNvPr id="10" name="Text 7"/>
          <p:cNvSpPr/>
          <p:nvPr/>
        </p:nvSpPr>
        <p:spPr>
          <a:xfrm>
            <a:off x="7061200" y="3428802"/>
            <a:ext cx="4447540"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E7C86"/>
                </a:solidFill>
                <a:latin typeface="Source Serif 4" pitchFamily="18" charset="0"/>
                <a:ea typeface="Source Serif 4" pitchFamily="18" charset="-122"/>
                <a:cs typeface="Source Serif 4" pitchFamily="18" charset="-120"/>
              </a:rPr>
              <a:t>1.510</a:t>
            </a:r>
            <a:endParaRPr lang="en-US" sz="3200" dirty="0"/>
          </a:p>
        </p:txBody>
      </p:sp>
      <p:sp>
        <p:nvSpPr>
          <p:cNvPr id="11" name="Text 8"/>
          <p:cNvSpPr/>
          <p:nvPr/>
        </p:nvSpPr>
        <p:spPr>
          <a:xfrm>
            <a:off x="7061200" y="3901216"/>
            <a:ext cx="44475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sample skewness</a:t>
            </a:r>
            <a:endParaRPr lang="en-US" sz="1200" dirty="0"/>
          </a:p>
        </p:txBody>
      </p:sp>
      <p:sp>
        <p:nvSpPr>
          <p:cNvPr id="12" name="Text 9"/>
          <p:cNvSpPr/>
          <p:nvPr/>
        </p:nvSpPr>
        <p:spPr>
          <a:xfrm>
            <a:off x="7061200" y="4241536"/>
            <a:ext cx="4447540" cy="87868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The mean exceeds the median and skewness is positive: a few large charges stretch the right tail.</a:t>
            </a:r>
            <a:endParaRPr lang="en-US" sz="1600" dirty="0"/>
          </a:p>
        </p:txBody>
      </p:sp>
      <p:sp>
        <p:nvSpPr>
          <p:cNvPr id="13" name="Text 10"/>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2 · DATA</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Smoking changes the charge pattern</a:t>
            </a:r>
            <a:endParaRPr lang="en-US" sz="3200" dirty="0"/>
          </a:p>
        </p:txBody>
      </p:sp>
      <p:sp>
        <p:nvSpPr>
          <p:cNvPr id="4" name="Shape 2"/>
          <p:cNvSpPr/>
          <p:nvPr/>
        </p:nvSpPr>
        <p:spPr>
          <a:xfrm>
            <a:off x="815975" y="1755710"/>
            <a:ext cx="10560050" cy="2789767"/>
          </a:xfrm>
          <a:prstGeom prst="roundRect">
            <a:avLst>
              <a:gd name="adj" fmla="val 3528"/>
            </a:avLst>
          </a:prstGeom>
          <a:solidFill>
            <a:srgbClr val="FFFFFF"/>
          </a:solidFill>
          <a:ln w="6350">
            <a:solidFill>
              <a:srgbClr val="D9DFE3"/>
            </a:solidFill>
            <a:prstDash val="solid"/>
          </a:ln>
        </p:spPr>
        <p:txBody>
          <a:bodyPr/>
          <a:lstStyle/>
          <a:p>
            <a:endParaRPr lang="en-US"/>
          </a:p>
        </p:txBody>
      </p:sp>
      <p:pic>
        <p:nvPicPr>
          <p:cNvPr id="5" name="Image 0" descr="Scatterplots of training charges against age, BMI and children, coloured by smoking status; smokers sit in a higher band"/>
          <p:cNvPicPr>
            <a:picLocks noChangeAspect="1"/>
          </p:cNvPicPr>
          <p:nvPr/>
        </p:nvPicPr>
        <p:blipFill>
          <a:blip r:embed="rId3"/>
          <a:srcRect l="-33" r="-33"/>
          <a:stretch/>
        </p:blipFill>
        <p:spPr>
          <a:xfrm>
            <a:off x="1524000" y="1883767"/>
            <a:ext cx="9144000" cy="2533650"/>
          </a:xfrm>
          <a:prstGeom prst="rect">
            <a:avLst/>
          </a:prstGeom>
        </p:spPr>
      </p:pic>
      <p:sp>
        <p:nvSpPr>
          <p:cNvPr id="6" name="Shape 3"/>
          <p:cNvSpPr/>
          <p:nvPr/>
        </p:nvSpPr>
        <p:spPr>
          <a:xfrm>
            <a:off x="812800" y="4761378"/>
            <a:ext cx="3384550" cy="0"/>
          </a:xfrm>
          <a:prstGeom prst="line">
            <a:avLst/>
          </a:prstGeom>
          <a:noFill/>
          <a:ln w="19050">
            <a:solidFill>
              <a:srgbClr val="0E7C86"/>
            </a:solidFill>
            <a:prstDash val="solid"/>
          </a:ln>
        </p:spPr>
        <p:txBody>
          <a:bodyPr/>
          <a:lstStyle/>
          <a:p>
            <a:endParaRPr lang="en-US"/>
          </a:p>
        </p:txBody>
      </p:sp>
      <p:sp>
        <p:nvSpPr>
          <p:cNvPr id="7" name="Text 4"/>
          <p:cNvSpPr/>
          <p:nvPr/>
        </p:nvSpPr>
        <p:spPr>
          <a:xfrm>
            <a:off x="812800" y="4870386"/>
            <a:ext cx="3486087" cy="87868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Smokers sit in a higher charge band, and their charges rise faster with BMI.</a:t>
            </a:r>
            <a:endParaRPr lang="en-US" sz="1600" dirty="0"/>
          </a:p>
        </p:txBody>
      </p:sp>
      <p:sp>
        <p:nvSpPr>
          <p:cNvPr id="8" name="Shape 5"/>
          <p:cNvSpPr/>
          <p:nvPr/>
        </p:nvSpPr>
        <p:spPr>
          <a:xfrm>
            <a:off x="4400550" y="4761378"/>
            <a:ext cx="3384550" cy="0"/>
          </a:xfrm>
          <a:prstGeom prst="line">
            <a:avLst/>
          </a:prstGeom>
          <a:noFill/>
          <a:ln w="19050">
            <a:solidFill>
              <a:srgbClr val="0E7C86"/>
            </a:solidFill>
            <a:prstDash val="solid"/>
          </a:ln>
        </p:spPr>
        <p:txBody>
          <a:bodyPr/>
          <a:lstStyle/>
          <a:p>
            <a:endParaRPr lang="en-US"/>
          </a:p>
        </p:txBody>
      </p:sp>
      <p:sp>
        <p:nvSpPr>
          <p:cNvPr id="9" name="Text 6"/>
          <p:cNvSpPr/>
          <p:nvPr/>
        </p:nvSpPr>
        <p:spPr>
          <a:xfrm>
            <a:off x="4400550" y="4870386"/>
            <a:ext cx="3486087" cy="87868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Boxplots agree: smoking splits charges sharply, while sex and region overlap.</a:t>
            </a:r>
            <a:endParaRPr lang="en-US" sz="1600" dirty="0"/>
          </a:p>
        </p:txBody>
      </p:sp>
      <p:sp>
        <p:nvSpPr>
          <p:cNvPr id="10" name="Shape 7"/>
          <p:cNvSpPr/>
          <p:nvPr/>
        </p:nvSpPr>
        <p:spPr>
          <a:xfrm>
            <a:off x="7988300" y="4761378"/>
            <a:ext cx="3384550" cy="0"/>
          </a:xfrm>
          <a:prstGeom prst="line">
            <a:avLst/>
          </a:prstGeom>
          <a:noFill/>
          <a:ln w="19050">
            <a:solidFill>
              <a:srgbClr val="0E7C86"/>
            </a:solidFill>
            <a:prstDash val="solid"/>
          </a:ln>
        </p:spPr>
        <p:txBody>
          <a:bodyPr/>
          <a:lstStyle/>
          <a:p>
            <a:endParaRPr lang="en-US"/>
          </a:p>
        </p:txBody>
      </p:sp>
      <p:sp>
        <p:nvSpPr>
          <p:cNvPr id="11" name="Text 8"/>
          <p:cNvSpPr/>
          <p:nvPr/>
        </p:nvSpPr>
        <p:spPr>
          <a:xfrm>
            <a:off x="7988300" y="4870386"/>
            <a:ext cx="3486087" cy="87868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Correlation with charges: age 0.29, BMI 0.18, children 0.09.</a:t>
            </a:r>
            <a:endParaRPr lang="en-US" sz="1600" dirty="0"/>
          </a:p>
        </p:txBody>
      </p:sp>
      <p:sp>
        <p:nvSpPr>
          <p:cNvPr id="12" name="Text 9"/>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3 · METHODS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Preparing the inputs</a:t>
            </a:r>
            <a:endParaRPr lang="en-US" sz="3200" dirty="0"/>
          </a:p>
        </p:txBody>
      </p:sp>
      <p:sp>
        <p:nvSpPr>
          <p:cNvPr id="4" name="Shape 2"/>
          <p:cNvSpPr/>
          <p:nvPr/>
        </p:nvSpPr>
        <p:spPr>
          <a:xfrm>
            <a:off x="815975" y="1806513"/>
            <a:ext cx="3380317" cy="1866239"/>
          </a:xfrm>
          <a:prstGeom prst="roundRect">
            <a:avLst>
              <a:gd name="adj" fmla="val 5274"/>
            </a:avLst>
          </a:prstGeom>
          <a:solidFill>
            <a:srgbClr val="FDFCF9"/>
          </a:solidFill>
          <a:ln w="6350">
            <a:solidFill>
              <a:srgbClr val="D9DFE3"/>
            </a:solidFill>
            <a:prstDash val="solid"/>
          </a:ln>
        </p:spPr>
        <p:txBody>
          <a:bodyPr/>
          <a:lstStyle/>
          <a:p>
            <a:endParaRPr lang="en-US"/>
          </a:p>
        </p:txBody>
      </p:sp>
      <p:sp>
        <p:nvSpPr>
          <p:cNvPr id="5" name="Text 3"/>
          <p:cNvSpPr/>
          <p:nvPr/>
        </p:nvSpPr>
        <p:spPr>
          <a:xfrm>
            <a:off x="1020233" y="2010767"/>
            <a:ext cx="3060954"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Encode categories</a:t>
            </a:r>
            <a:endParaRPr lang="en-US" sz="1600" dirty="0"/>
          </a:p>
        </p:txBody>
      </p:sp>
      <p:sp>
        <p:nvSpPr>
          <p:cNvPr id="6" name="Text 4"/>
          <p:cNvSpPr/>
          <p:nvPr/>
        </p:nvSpPr>
        <p:spPr>
          <a:xfrm>
            <a:off x="1020233" y="2330785"/>
            <a:ext cx="3060954" cy="1163108"/>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sex_male and smoker_yes are 0/1 indicators. Region gets three, with northeast as the reference.</a:t>
            </a:r>
            <a:endParaRPr lang="en-US" sz="1600" dirty="0"/>
          </a:p>
        </p:txBody>
      </p:sp>
      <p:sp>
        <p:nvSpPr>
          <p:cNvPr id="7" name="Shape 5"/>
          <p:cNvSpPr/>
          <p:nvPr/>
        </p:nvSpPr>
        <p:spPr>
          <a:xfrm>
            <a:off x="4405842" y="1806513"/>
            <a:ext cx="3380317" cy="1866239"/>
          </a:xfrm>
          <a:prstGeom prst="roundRect">
            <a:avLst>
              <a:gd name="adj" fmla="val 5274"/>
            </a:avLst>
          </a:prstGeom>
          <a:solidFill>
            <a:srgbClr val="FDFCF9"/>
          </a:solidFill>
          <a:ln w="6350">
            <a:solidFill>
              <a:srgbClr val="D9DFE3"/>
            </a:solidFill>
            <a:prstDash val="solid"/>
          </a:ln>
        </p:spPr>
        <p:txBody>
          <a:bodyPr/>
          <a:lstStyle/>
          <a:p>
            <a:endParaRPr lang="en-US"/>
          </a:p>
        </p:txBody>
      </p:sp>
      <p:sp>
        <p:nvSpPr>
          <p:cNvPr id="8" name="Text 6"/>
          <p:cNvSpPr/>
          <p:nvPr/>
        </p:nvSpPr>
        <p:spPr>
          <a:xfrm>
            <a:off x="4610100" y="2010767"/>
            <a:ext cx="3060954"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Drop one region</a:t>
            </a:r>
            <a:endParaRPr lang="en-US" sz="1600" dirty="0"/>
          </a:p>
        </p:txBody>
      </p:sp>
      <p:sp>
        <p:nvSpPr>
          <p:cNvPr id="9" name="Text 7"/>
          <p:cNvSpPr/>
          <p:nvPr/>
        </p:nvSpPr>
        <p:spPr>
          <a:xfrm>
            <a:off x="4610100" y="2330785"/>
            <a:ext cx="3060954" cy="1163108"/>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Four region indicators sum to 1 and duplicate the intercept. Dropping one avoids the dummy-variable trap.</a:t>
            </a:r>
            <a:endParaRPr lang="en-US" sz="1600" dirty="0"/>
          </a:p>
        </p:txBody>
      </p:sp>
      <p:sp>
        <p:nvSpPr>
          <p:cNvPr id="10" name="Shape 8"/>
          <p:cNvSpPr/>
          <p:nvPr/>
        </p:nvSpPr>
        <p:spPr>
          <a:xfrm>
            <a:off x="7995709" y="1806513"/>
            <a:ext cx="3380317" cy="1866239"/>
          </a:xfrm>
          <a:prstGeom prst="roundRect">
            <a:avLst>
              <a:gd name="adj" fmla="val 5274"/>
            </a:avLst>
          </a:prstGeom>
          <a:solidFill>
            <a:srgbClr val="FDFCF9"/>
          </a:solidFill>
          <a:ln w="6350">
            <a:solidFill>
              <a:srgbClr val="D9DFE3"/>
            </a:solidFill>
            <a:prstDash val="solid"/>
          </a:ln>
        </p:spPr>
        <p:txBody>
          <a:bodyPr/>
          <a:lstStyle/>
          <a:p>
            <a:endParaRPr lang="en-US"/>
          </a:p>
        </p:txBody>
      </p:sp>
      <p:sp>
        <p:nvSpPr>
          <p:cNvPr id="11" name="Text 9"/>
          <p:cNvSpPr/>
          <p:nvPr/>
        </p:nvSpPr>
        <p:spPr>
          <a:xfrm>
            <a:off x="8199967" y="2010767"/>
            <a:ext cx="3060954"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Centre the numbers</a:t>
            </a:r>
            <a:endParaRPr lang="en-US" sz="1600" dirty="0"/>
          </a:p>
        </p:txBody>
      </p:sp>
      <p:sp>
        <p:nvSpPr>
          <p:cNvPr id="12" name="Text 10"/>
          <p:cNvSpPr/>
          <p:nvPr/>
        </p:nvSpPr>
        <p:spPr>
          <a:xfrm>
            <a:off x="8199967" y="2330785"/>
            <a:ext cx="3060954" cy="1163108"/>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Subtract training means: age 39.179, BMI 30.540, children 1.083. The intercept then describes an average profile.</a:t>
            </a:r>
            <a:endParaRPr lang="en-US" sz="1600" dirty="0"/>
          </a:p>
        </p:txBody>
      </p:sp>
      <p:sp>
        <p:nvSpPr>
          <p:cNvPr id="13" name="Text 11"/>
          <p:cNvSpPr/>
          <p:nvPr/>
        </p:nvSpPr>
        <p:spPr>
          <a:xfrm>
            <a:off x="812800" y="3929924"/>
            <a:ext cx="2319139" cy="436827"/>
          </a:xfrm>
          <a:prstGeom prst="roundRect">
            <a:avLst>
              <a:gd name="adj" fmla="val 50000"/>
            </a:avLst>
          </a:prstGeom>
          <a:solidFill>
            <a:srgbClr val="0F2A43"/>
          </a:solidFill>
          <a:ln/>
        </p:spPr>
        <p:txBody>
          <a:bodyPr wrap="none" lIns="0" tIns="0" rIns="0" bIns="0" rtlCol="0" anchor="ctr">
            <a:normAutofit/>
          </a:bodyPr>
          <a:lstStyle/>
          <a:p>
            <a:pPr marL="0" indent="0" algn="ctr">
              <a:lnSpc>
                <a:spcPts val="2240"/>
              </a:lnSpc>
              <a:buNone/>
            </a:pPr>
            <a:r>
              <a:rPr lang="en-US" sz="1600" dirty="0">
                <a:solidFill>
                  <a:srgbClr val="F6F4EE"/>
                </a:solidFill>
                <a:latin typeface="IBM Plex Sans" pitchFamily="34" charset="0"/>
                <a:ea typeface="IBM Plex Sans" pitchFamily="34" charset="-122"/>
                <a:cs typeface="IBM Plex Sans" pitchFamily="34" charset="-120"/>
              </a:rPr>
              <a:t>Additive design: p = 9</a:t>
            </a:r>
            <a:endParaRPr lang="en-US" sz="1600" dirty="0"/>
          </a:p>
        </p:txBody>
      </p:sp>
      <p:sp>
        <p:nvSpPr>
          <p:cNvPr id="14" name="Text 12"/>
          <p:cNvSpPr/>
          <p:nvPr/>
        </p:nvSpPr>
        <p:spPr>
          <a:xfrm>
            <a:off x="3233539" y="3929924"/>
            <a:ext cx="2785732" cy="436827"/>
          </a:xfrm>
          <a:prstGeom prst="roundRect">
            <a:avLst>
              <a:gd name="adj" fmla="val 50000"/>
            </a:avLst>
          </a:prstGeom>
          <a:solidFill>
            <a:srgbClr val="0F2A43"/>
          </a:solidFill>
          <a:ln/>
        </p:spPr>
        <p:txBody>
          <a:bodyPr wrap="none" lIns="0" tIns="0" rIns="0" bIns="0" rtlCol="0" anchor="ctr">
            <a:normAutofit/>
          </a:bodyPr>
          <a:lstStyle/>
          <a:p>
            <a:pPr marL="0" indent="0" algn="ctr">
              <a:lnSpc>
                <a:spcPts val="2240"/>
              </a:lnSpc>
              <a:buNone/>
            </a:pPr>
            <a:r>
              <a:rPr lang="en-US" sz="1600" dirty="0">
                <a:solidFill>
                  <a:srgbClr val="F6F4EE"/>
                </a:solidFill>
                <a:latin typeface="IBM Plex Sans" pitchFamily="34" charset="0"/>
                <a:ea typeface="IBM Plex Sans" pitchFamily="34" charset="-122"/>
                <a:cs typeface="IBM Plex Sans" pitchFamily="34" charset="-120"/>
              </a:rPr>
              <a:t>With BMI × smoker: p = 10</a:t>
            </a:r>
            <a:endParaRPr lang="en-US" sz="1600" dirty="0"/>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3 · METHODS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Ordinary least squares</a:t>
            </a:r>
            <a:endParaRPr lang="en-US" sz="3200" dirty="0"/>
          </a:p>
        </p:txBody>
      </p:sp>
      <p:sp>
        <p:nvSpPr>
          <p:cNvPr id="4" name="Shape 2"/>
          <p:cNvSpPr/>
          <p:nvPr/>
        </p:nvSpPr>
        <p:spPr>
          <a:xfrm>
            <a:off x="812800" y="1803338"/>
            <a:ext cx="5715000" cy="3443883"/>
          </a:xfrm>
          <a:prstGeom prst="roundRect">
            <a:avLst>
              <a:gd name="adj" fmla="val 2950"/>
            </a:avLst>
          </a:prstGeom>
          <a:solidFill>
            <a:srgbClr val="0F2A43"/>
          </a:solidFill>
          <a:ln/>
        </p:spPr>
        <p:txBody>
          <a:bodyPr/>
          <a:lstStyle/>
          <a:p>
            <a:endParaRPr lang="en-US"/>
          </a:p>
        </p:txBody>
      </p:sp>
      <p:sp>
        <p:nvSpPr>
          <p:cNvPr id="5" name="Text 3"/>
          <p:cNvSpPr/>
          <p:nvPr/>
        </p:nvSpPr>
        <p:spPr>
          <a:xfrm>
            <a:off x="1117600" y="2108138"/>
            <a:ext cx="525856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MODEL</a:t>
            </a:r>
            <a:endParaRPr lang="en-US" sz="1200" dirty="0"/>
          </a:p>
        </p:txBody>
      </p:sp>
      <p:sp>
        <p:nvSpPr>
          <p:cNvPr id="6" name="Text 4"/>
          <p:cNvSpPr/>
          <p:nvPr/>
        </p:nvSpPr>
        <p:spPr>
          <a:xfrm>
            <a:off x="1117600" y="2372258"/>
            <a:ext cx="5258562" cy="360627"/>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F6F4EE"/>
                </a:solidFill>
                <a:latin typeface="Source Serif 4" pitchFamily="18" charset="0"/>
                <a:ea typeface="Source Serif 4" pitchFamily="18" charset="-122"/>
                <a:cs typeface="Source Serif 4" pitchFamily="18" charset="-120"/>
              </a:rPr>
              <a:t>y = Xβ + ε</a:t>
            </a:r>
            <a:endParaRPr lang="en-US" sz="2200" dirty="0"/>
          </a:p>
        </p:txBody>
      </p:sp>
      <p:sp>
        <p:nvSpPr>
          <p:cNvPr id="7" name="Text 5"/>
          <p:cNvSpPr/>
          <p:nvPr/>
        </p:nvSpPr>
        <p:spPr>
          <a:xfrm>
            <a:off x="1117600" y="2910681"/>
            <a:ext cx="525856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LOSS</a:t>
            </a:r>
            <a:endParaRPr lang="en-US" sz="1200" dirty="0"/>
          </a:p>
        </p:txBody>
      </p:sp>
      <p:sp>
        <p:nvSpPr>
          <p:cNvPr id="8" name="Text 6"/>
          <p:cNvSpPr/>
          <p:nvPr/>
        </p:nvSpPr>
        <p:spPr>
          <a:xfrm>
            <a:off x="1117600" y="3174802"/>
            <a:ext cx="5258562" cy="360627"/>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F6F4EE"/>
                </a:solidFill>
                <a:latin typeface="Source Serif 4" pitchFamily="18" charset="0"/>
                <a:ea typeface="Source Serif 4" pitchFamily="18" charset="-122"/>
                <a:cs typeface="Source Serif 4" pitchFamily="18" charset="-120"/>
              </a:rPr>
              <a:t>SSE(β) = Σ (yᵢ − xᵢᵀβ)²</a:t>
            </a:r>
            <a:endParaRPr lang="en-US" sz="2200" dirty="0"/>
          </a:p>
        </p:txBody>
      </p:sp>
      <p:sp>
        <p:nvSpPr>
          <p:cNvPr id="9" name="Text 7"/>
          <p:cNvSpPr/>
          <p:nvPr/>
        </p:nvSpPr>
        <p:spPr>
          <a:xfrm>
            <a:off x="1117600" y="3713231"/>
            <a:ext cx="525856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SOLUTION</a:t>
            </a:r>
            <a:endParaRPr lang="en-US" sz="1200" dirty="0"/>
          </a:p>
        </p:txBody>
      </p:sp>
      <p:sp>
        <p:nvSpPr>
          <p:cNvPr id="10" name="Text 8"/>
          <p:cNvSpPr/>
          <p:nvPr/>
        </p:nvSpPr>
        <p:spPr>
          <a:xfrm>
            <a:off x="1117600" y="3977351"/>
            <a:ext cx="5258562" cy="360627"/>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F6F4EE"/>
                </a:solidFill>
                <a:latin typeface="Source Serif 4" pitchFamily="18" charset="0"/>
                <a:ea typeface="Source Serif 4" pitchFamily="18" charset="-122"/>
                <a:cs typeface="Source Serif 4" pitchFamily="18" charset="-120"/>
              </a:rPr>
              <a:t>β = (XᵀX)⁻¹ Xᵀ y</a:t>
            </a:r>
            <a:endParaRPr lang="en-US" sz="2200" dirty="0"/>
          </a:p>
        </p:txBody>
      </p:sp>
      <p:sp>
        <p:nvSpPr>
          <p:cNvPr id="11" name="Text 9"/>
          <p:cNvSpPr/>
          <p:nvPr/>
        </p:nvSpPr>
        <p:spPr>
          <a:xfrm>
            <a:off x="1117600" y="4515780"/>
            <a:ext cx="5258562"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D5E0"/>
                </a:solidFill>
                <a:latin typeface="IBM Plex Sans" pitchFamily="34" charset="0"/>
                <a:ea typeface="IBM Plex Sans" pitchFamily="34" charset="-122"/>
                <a:cs typeface="IBM Plex Sans" pitchFamily="34" charset="-120"/>
              </a:rPr>
              <a:t>y: actual charges · X: encoded inputs · β: intercept and slopes, chosen to minimise squared errors</a:t>
            </a:r>
            <a:endParaRPr lang="en-US" sz="1200" dirty="0"/>
          </a:p>
        </p:txBody>
      </p:sp>
      <p:sp>
        <p:nvSpPr>
          <p:cNvPr id="12" name="Text 10"/>
          <p:cNvSpPr/>
          <p:nvPr/>
        </p:nvSpPr>
        <p:spPr>
          <a:xfrm>
            <a:off x="6934200" y="2483372"/>
            <a:ext cx="4578350" cy="87868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Squaring stops positive and negative errors cancelling and punishes big misses: a 10,000 error costs four times a 5,000 error.</a:t>
            </a:r>
            <a:endParaRPr lang="en-US" sz="1600" dirty="0"/>
          </a:p>
        </p:txBody>
      </p:sp>
      <p:sp>
        <p:nvSpPr>
          <p:cNvPr id="13" name="Text 11"/>
          <p:cNvSpPr/>
          <p:nvPr/>
        </p:nvSpPr>
        <p:spPr>
          <a:xfrm>
            <a:off x="6934200" y="3611568"/>
            <a:ext cx="4578350" cy="72641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Solved numerically with statsmodels, then cross-checked against scikit-learn fits.</a:t>
            </a:r>
            <a:endParaRPr lang="en-US" sz="1600" dirty="0"/>
          </a:p>
        </p:txBody>
      </p:sp>
      <p:sp>
        <p:nvSpPr>
          <p:cNvPr id="15" name="Text 13"/>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3 · METHODS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Three candidate models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8"/>
          <a:ext cx="10553700" cy="1757364"/>
        </p:xfrm>
        <a:graphic>
          <a:graphicData uri="http://schemas.openxmlformats.org/drawingml/2006/table">
            <a:tbl>
              <a:tblPr/>
              <a:tblGrid>
                <a:gridCol w="3166110">
                  <a:extLst>
                    <a:ext uri="{9D8B030D-6E8A-4147-A177-3AD203B41FA5}">
                      <a16:colId xmlns:a16="http://schemas.microsoft.com/office/drawing/2014/main" val="20000"/>
                    </a:ext>
                  </a:extLst>
                </a:gridCol>
                <a:gridCol w="5065776">
                  <a:extLst>
                    <a:ext uri="{9D8B030D-6E8A-4147-A177-3AD203B41FA5}">
                      <a16:colId xmlns:a16="http://schemas.microsoft.com/office/drawing/2014/main" val="20001"/>
                    </a:ext>
                  </a:extLst>
                </a:gridCol>
                <a:gridCol w="2321814">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Candidate</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What changes</a:t>
                      </a:r>
                      <a:endParaRPr lang="en-US" sz="1600" dirty="0">
                        <a:latin typeface="IBM Plex Sans" charset="0"/>
                        <a:ea typeface="IBM Plex Sans" charset="0"/>
                        <a:cs typeface="IBM Plex Sans" charset="0"/>
                      </a:endParaRPr>
                    </a:p>
                  </a:txBody>
                  <a:tcPr marL="71120" marR="71120" marT="71120" marB="71120">
                    <a:lnL w="12700" cap="flat" cmpd="sng" algn="ctr">
                      <a:solidFill>
                        <a:srgbClr val="102538"/>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Role</a:t>
                      </a:r>
                      <a:endParaRPr lang="en-US" sz="1600" dirty="0">
                        <a:latin typeface="IBM Plex Sans" charset="0"/>
                        <a:ea typeface="IBM Plex Sans" charset="0"/>
                        <a:cs typeface="IBM Plex Sans" charset="0"/>
                      </a:endParaRPr>
                    </a:p>
                  </a:txBody>
                  <a:tcPr marL="71120" marR="71120" marT="71120" marB="71120">
                    <a:lnL w="12700" cap="flat" cmpd="sng" algn="ctr">
                      <a:solidFill>
                        <a:srgbClr val="102538"/>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Additive OLS</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All inputs, one BMI slope for everyone</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Baseline</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Interaction OLS</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Adds a BMI × smoker term</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Extension</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Log interaction OLS</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Fits log charges, then back-transforms</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Extension</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bl>
          </a:graphicData>
        </a:graphic>
      </p:graphicFrame>
      <p:grpSp>
        <p:nvGrpSpPr>
          <p:cNvPr id="14" name="Group 13">
            <a:extLst>
              <a:ext uri="{FF2B5EF4-FFF2-40B4-BE49-F238E27FC236}">
                <a16:creationId xmlns:a16="http://schemas.microsoft.com/office/drawing/2014/main" id="{A69B6586-04AA-BA9A-0C26-31EAA387C450}"/>
              </a:ext>
            </a:extLst>
          </p:cNvPr>
          <p:cNvGrpSpPr/>
          <p:nvPr/>
        </p:nvGrpSpPr>
        <p:grpSpPr>
          <a:xfrm>
            <a:off x="3317648" y="4012726"/>
            <a:ext cx="5175250" cy="1866239"/>
            <a:chOff x="815975" y="3830575"/>
            <a:chExt cx="5175250" cy="1866239"/>
          </a:xfrm>
        </p:grpSpPr>
        <p:sp>
          <p:nvSpPr>
            <p:cNvPr id="5" name="Shape 2"/>
            <p:cNvSpPr/>
            <p:nvPr/>
          </p:nvSpPr>
          <p:spPr>
            <a:xfrm>
              <a:off x="815975" y="3830575"/>
              <a:ext cx="5175250" cy="1866239"/>
            </a:xfrm>
            <a:prstGeom prst="roundRect">
              <a:avLst>
                <a:gd name="adj" fmla="val 5274"/>
              </a:avLst>
            </a:prstGeom>
            <a:solidFill>
              <a:srgbClr val="FDFCF9"/>
            </a:solidFill>
            <a:ln w="6350">
              <a:solidFill>
                <a:srgbClr val="D9DFE3"/>
              </a:solidFill>
              <a:prstDash val="solid"/>
            </a:ln>
          </p:spPr>
          <p:txBody>
            <a:bodyPr/>
            <a:lstStyle/>
            <a:p>
              <a:endParaRPr lang="en-US"/>
            </a:p>
          </p:txBody>
        </p:sp>
        <p:sp>
          <p:nvSpPr>
            <p:cNvPr id="6" name="Text 3"/>
            <p:cNvSpPr/>
            <p:nvPr/>
          </p:nvSpPr>
          <p:spPr>
            <a:xfrm>
              <a:off x="1020233" y="4034830"/>
              <a:ext cx="4909735"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Why an interaction?</a:t>
              </a:r>
              <a:endParaRPr lang="en-US" sz="1600" dirty="0"/>
            </a:p>
          </p:txBody>
        </p:sp>
        <p:sp>
          <p:nvSpPr>
            <p:cNvPr id="7" name="Text 4"/>
            <p:cNvSpPr/>
            <p:nvPr/>
          </p:nvSpPr>
          <p:spPr>
            <a:xfrm>
              <a:off x="1020233" y="4354847"/>
              <a:ext cx="4909735" cy="1163108"/>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Non-smokers share one BMI slope; smokers get that slope plus the interaction coefficient. The scatterplot showed smokers' charges climbing faster with BMI.</a:t>
              </a:r>
              <a:endParaRPr lang="en-US" sz="1600" dirty="0"/>
            </a:p>
          </p:txBody>
        </p:sp>
      </p:grpSp>
      <p:sp>
        <p:nvSpPr>
          <p:cNvPr id="11" name="Text 8"/>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3 · METHODS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Five-fold validation protocol</a:t>
            </a:r>
            <a:endParaRPr lang="en-US" sz="3200" dirty="0"/>
          </a:p>
        </p:txBody>
      </p:sp>
      <p:sp>
        <p:nvSpPr>
          <p:cNvPr id="4" name="Text 2"/>
          <p:cNvSpPr/>
          <p:nvPr/>
        </p:nvSpPr>
        <p:spPr>
          <a:xfrm>
            <a:off x="812800" y="1803338"/>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0E7C86"/>
          </a:solidFill>
          <a:ln/>
        </p:spPr>
        <p:txBody>
          <a:bodyPr wrap="square" lIns="0" tIns="0" rIns="0" bIns="0" rtlCol="0" anchor="t">
            <a:normAutofit/>
          </a:bodyPr>
          <a:lstStyle/>
          <a:p>
            <a:pPr marL="0" indent="0" algn="ctr">
              <a:lnSpc>
                <a:spcPts val="2800"/>
              </a:lnSpc>
              <a:buNone/>
            </a:pPr>
            <a:r>
              <a:rPr lang="en-US" sz="1600" b="1" dirty="0">
                <a:solidFill>
                  <a:srgbClr val="F6F4EE"/>
                </a:solidFill>
                <a:latin typeface="IBM Plex Sans" pitchFamily="34" charset="0"/>
                <a:ea typeface="IBM Plex Sans" pitchFamily="34" charset="-122"/>
                <a:cs typeface="IBM Plex Sans" pitchFamily="34" charset="-120"/>
              </a:rPr>
              <a:t>1</a:t>
            </a:r>
            <a:endParaRPr lang="en-US" sz="1600" dirty="0"/>
          </a:p>
        </p:txBody>
      </p:sp>
      <p:sp>
        <p:nvSpPr>
          <p:cNvPr id="5" name="Text 3"/>
          <p:cNvSpPr/>
          <p:nvPr/>
        </p:nvSpPr>
        <p:spPr>
          <a:xfrm>
            <a:off x="1295400" y="1803338"/>
            <a:ext cx="513080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Shuffle the unique training groups with a fixed seed</a:t>
            </a:r>
            <a:endParaRPr lang="en-US" sz="1600" dirty="0"/>
          </a:p>
        </p:txBody>
      </p:sp>
      <p:sp>
        <p:nvSpPr>
          <p:cNvPr id="6" name="Text 4"/>
          <p:cNvSpPr/>
          <p:nvPr/>
        </p:nvSpPr>
        <p:spPr>
          <a:xfrm>
            <a:off x="812800" y="2285938"/>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0E7C86"/>
          </a:solidFill>
          <a:ln/>
        </p:spPr>
        <p:txBody>
          <a:bodyPr wrap="square" lIns="0" tIns="0" rIns="0" bIns="0" rtlCol="0" anchor="t">
            <a:normAutofit/>
          </a:bodyPr>
          <a:lstStyle/>
          <a:p>
            <a:pPr marL="0" indent="0" algn="ctr">
              <a:lnSpc>
                <a:spcPts val="2800"/>
              </a:lnSpc>
              <a:buNone/>
            </a:pPr>
            <a:r>
              <a:rPr lang="en-US" sz="1600" b="1" dirty="0">
                <a:solidFill>
                  <a:srgbClr val="F6F4EE"/>
                </a:solidFill>
                <a:latin typeface="IBM Plex Sans" pitchFamily="34" charset="0"/>
                <a:ea typeface="IBM Plex Sans" pitchFamily="34" charset="-122"/>
                <a:cs typeface="IBM Plex Sans" pitchFamily="34" charset="-120"/>
              </a:rPr>
              <a:t>2</a:t>
            </a:r>
            <a:endParaRPr lang="en-US" sz="1600" dirty="0"/>
          </a:p>
        </p:txBody>
      </p:sp>
      <p:sp>
        <p:nvSpPr>
          <p:cNvPr id="7" name="Text 5"/>
          <p:cNvSpPr/>
          <p:nvPr/>
        </p:nvSpPr>
        <p:spPr>
          <a:xfrm>
            <a:off x="1295400" y="2285938"/>
            <a:ext cx="486613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Split them into five folds</a:t>
            </a:r>
            <a:endParaRPr lang="en-US" sz="1600" dirty="0"/>
          </a:p>
        </p:txBody>
      </p:sp>
      <p:sp>
        <p:nvSpPr>
          <p:cNvPr id="8" name="Text 6"/>
          <p:cNvSpPr/>
          <p:nvPr/>
        </p:nvSpPr>
        <p:spPr>
          <a:xfrm>
            <a:off x="812800" y="2768538"/>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0E7C86"/>
          </a:solidFill>
          <a:ln/>
        </p:spPr>
        <p:txBody>
          <a:bodyPr wrap="square" lIns="0" tIns="0" rIns="0" bIns="0" rtlCol="0" anchor="t">
            <a:normAutofit/>
          </a:bodyPr>
          <a:lstStyle/>
          <a:p>
            <a:pPr marL="0" indent="0" algn="ctr">
              <a:lnSpc>
                <a:spcPts val="2800"/>
              </a:lnSpc>
              <a:buNone/>
            </a:pPr>
            <a:r>
              <a:rPr lang="en-US" sz="1600" b="1" dirty="0">
                <a:solidFill>
                  <a:srgbClr val="F6F4EE"/>
                </a:solidFill>
                <a:latin typeface="IBM Plex Sans" pitchFamily="34" charset="0"/>
                <a:ea typeface="IBM Plex Sans" pitchFamily="34" charset="-122"/>
                <a:cs typeface="IBM Plex Sans" pitchFamily="34" charset="-120"/>
              </a:rPr>
              <a:t>3</a:t>
            </a:r>
            <a:endParaRPr lang="en-US" sz="1600" dirty="0"/>
          </a:p>
        </p:txBody>
      </p:sp>
      <p:sp>
        <p:nvSpPr>
          <p:cNvPr id="9" name="Text 7"/>
          <p:cNvSpPr/>
          <p:nvPr/>
        </p:nvSpPr>
        <p:spPr>
          <a:xfrm>
            <a:off x="1295400" y="2768538"/>
            <a:ext cx="486613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Fit on four folds, predict the fifth</a:t>
            </a:r>
            <a:endParaRPr lang="en-US" sz="1600" dirty="0"/>
          </a:p>
        </p:txBody>
      </p:sp>
      <p:sp>
        <p:nvSpPr>
          <p:cNvPr id="10" name="Text 8"/>
          <p:cNvSpPr/>
          <p:nvPr/>
        </p:nvSpPr>
        <p:spPr>
          <a:xfrm>
            <a:off x="812800" y="3251138"/>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0E7C86"/>
          </a:solidFill>
          <a:ln/>
        </p:spPr>
        <p:txBody>
          <a:bodyPr wrap="square" lIns="0" tIns="0" rIns="0" bIns="0" rtlCol="0" anchor="t">
            <a:normAutofit/>
          </a:bodyPr>
          <a:lstStyle/>
          <a:p>
            <a:pPr marL="0" indent="0" algn="ctr">
              <a:lnSpc>
                <a:spcPts val="2800"/>
              </a:lnSpc>
              <a:buNone/>
            </a:pPr>
            <a:r>
              <a:rPr lang="en-US" sz="1600" b="1" dirty="0">
                <a:solidFill>
                  <a:srgbClr val="F6F4EE"/>
                </a:solidFill>
                <a:latin typeface="IBM Plex Sans" pitchFamily="34" charset="0"/>
                <a:ea typeface="IBM Plex Sans" pitchFamily="34" charset="-122"/>
                <a:cs typeface="IBM Plex Sans" pitchFamily="34" charset="-120"/>
              </a:rPr>
              <a:t>4</a:t>
            </a:r>
            <a:endParaRPr lang="en-US" sz="1600" dirty="0"/>
          </a:p>
        </p:txBody>
      </p:sp>
      <p:sp>
        <p:nvSpPr>
          <p:cNvPr id="11" name="Text 9"/>
          <p:cNvSpPr/>
          <p:nvPr/>
        </p:nvSpPr>
        <p:spPr>
          <a:xfrm>
            <a:off x="1295400" y="3251138"/>
            <a:ext cx="513080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Repeat until every row has an out-of-fold prediction</a:t>
            </a:r>
            <a:endParaRPr lang="en-US" sz="1600" dirty="0"/>
          </a:p>
        </p:txBody>
      </p:sp>
      <p:sp>
        <p:nvSpPr>
          <p:cNvPr id="12" name="Text 10"/>
          <p:cNvSpPr/>
          <p:nvPr/>
        </p:nvSpPr>
        <p:spPr>
          <a:xfrm>
            <a:off x="812800" y="3733738"/>
            <a:ext cx="355600" cy="355600"/>
          </a:xfrm>
          <a:custGeom>
            <a:avLst/>
            <a:gdLst/>
            <a:ahLst/>
            <a:cxnLst/>
            <a:rect l="l" t="t" r="r" b="b"/>
            <a:pathLst>
              <a:path w="355600" h="355600">
                <a:moveTo>
                  <a:pt x="177800" y="0"/>
                </a:moveTo>
                <a:lnTo>
                  <a:pt x="177800" y="0"/>
                </a:lnTo>
                <a:arcTo wR="177800" hR="177800" stAng="16200000" swAng="5400000"/>
                <a:lnTo>
                  <a:pt x="355600" y="177800"/>
                </a:lnTo>
                <a:arcTo wR="177800" hR="177800" stAng="0" swAng="5400000"/>
                <a:lnTo>
                  <a:pt x="177800" y="355600"/>
                </a:lnTo>
                <a:arcTo wR="177800" hR="177800" stAng="5400000" swAng="5400000"/>
                <a:lnTo>
                  <a:pt x="0" y="177800"/>
                </a:lnTo>
                <a:arcTo wR="177800" hR="177800" stAng="10800000" swAng="5400000"/>
                <a:close/>
              </a:path>
            </a:pathLst>
          </a:custGeom>
          <a:solidFill>
            <a:srgbClr val="0E7C86"/>
          </a:solidFill>
          <a:ln/>
        </p:spPr>
        <p:txBody>
          <a:bodyPr wrap="square" lIns="0" tIns="0" rIns="0" bIns="0" rtlCol="0" anchor="t">
            <a:normAutofit/>
          </a:bodyPr>
          <a:lstStyle/>
          <a:p>
            <a:pPr marL="0" indent="0" algn="ctr">
              <a:lnSpc>
                <a:spcPts val="2800"/>
              </a:lnSpc>
              <a:buNone/>
            </a:pPr>
            <a:r>
              <a:rPr lang="en-US" sz="1600" b="1" dirty="0">
                <a:solidFill>
                  <a:srgbClr val="F6F4EE"/>
                </a:solidFill>
                <a:latin typeface="IBM Plex Sans" pitchFamily="34" charset="0"/>
                <a:ea typeface="IBM Plex Sans" pitchFamily="34" charset="-122"/>
                <a:cs typeface="IBM Plex Sans" pitchFamily="34" charset="-120"/>
              </a:rPr>
              <a:t>5</a:t>
            </a:r>
            <a:endParaRPr lang="en-US" sz="1600" dirty="0"/>
          </a:p>
        </p:txBody>
      </p:sp>
      <p:sp>
        <p:nvSpPr>
          <p:cNvPr id="13" name="Text 11"/>
          <p:cNvSpPr/>
          <p:nvPr/>
        </p:nvSpPr>
        <p:spPr>
          <a:xfrm>
            <a:off x="1295400" y="3733738"/>
            <a:ext cx="4866132"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Run the same folds for every candidate</a:t>
            </a:r>
            <a:endParaRPr lang="en-US" sz="1600" dirty="0"/>
          </a:p>
        </p:txBody>
      </p:sp>
      <p:sp>
        <p:nvSpPr>
          <p:cNvPr id="14" name="Shape 12"/>
          <p:cNvSpPr/>
          <p:nvPr/>
        </p:nvSpPr>
        <p:spPr>
          <a:xfrm>
            <a:off x="6426200" y="1803338"/>
            <a:ext cx="4953000" cy="1295268"/>
          </a:xfrm>
          <a:prstGeom prst="roundRect">
            <a:avLst>
              <a:gd name="adj" fmla="val 7844"/>
            </a:avLst>
          </a:prstGeom>
          <a:solidFill>
            <a:srgbClr val="0F2A43"/>
          </a:solidFill>
          <a:ln/>
        </p:spPr>
        <p:txBody>
          <a:bodyPr/>
          <a:lstStyle/>
          <a:p>
            <a:endParaRPr lang="en-US"/>
          </a:p>
        </p:txBody>
      </p:sp>
      <p:sp>
        <p:nvSpPr>
          <p:cNvPr id="15" name="Text 13"/>
          <p:cNvSpPr/>
          <p:nvPr/>
        </p:nvSpPr>
        <p:spPr>
          <a:xfrm>
            <a:off x="6629400" y="2006538"/>
            <a:ext cx="4682998"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E8A33D"/>
                </a:solidFill>
                <a:latin typeface="IBM Plex Sans" pitchFamily="34" charset="0"/>
                <a:ea typeface="IBM Plex Sans" pitchFamily="34" charset="-122"/>
                <a:cs typeface="IBM Plex Sans" pitchFamily="34" charset="-120"/>
              </a:rPr>
              <a:t>Selection rule</a:t>
            </a:r>
            <a:endParaRPr lang="en-US" sz="1600" dirty="0"/>
          </a:p>
        </p:txBody>
      </p:sp>
      <p:sp>
        <p:nvSpPr>
          <p:cNvPr id="16" name="Text 14"/>
          <p:cNvSpPr/>
          <p:nvPr/>
        </p:nvSpPr>
        <p:spPr>
          <a:xfrm>
            <a:off x="6629400" y="2326549"/>
            <a:ext cx="4682998"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Lowest mean RMSE wins, unless a simpler model is within 1%. The tolerance was fixed in advance.</a:t>
            </a:r>
            <a:endParaRPr lang="en-US" sz="1600" dirty="0"/>
          </a:p>
        </p:txBody>
      </p:sp>
      <p:sp>
        <p:nvSpPr>
          <p:cNvPr id="17" name="Shape 15"/>
          <p:cNvSpPr/>
          <p:nvPr/>
        </p:nvSpPr>
        <p:spPr>
          <a:xfrm>
            <a:off x="6429375" y="3254177"/>
            <a:ext cx="4946650" cy="1297384"/>
          </a:xfrm>
          <a:prstGeom prst="roundRect">
            <a:avLst>
              <a:gd name="adj" fmla="val 7586"/>
            </a:avLst>
          </a:prstGeom>
          <a:solidFill>
            <a:srgbClr val="FDFCF9"/>
          </a:solidFill>
          <a:ln w="6350">
            <a:solidFill>
              <a:srgbClr val="D9DFE3"/>
            </a:solidFill>
            <a:prstDash val="solid"/>
          </a:ln>
        </p:spPr>
        <p:txBody>
          <a:bodyPr/>
          <a:lstStyle/>
          <a:p>
            <a:endParaRPr lang="en-US"/>
          </a:p>
        </p:txBody>
      </p:sp>
      <p:sp>
        <p:nvSpPr>
          <p:cNvPr id="18" name="Text 16"/>
          <p:cNvSpPr/>
          <p:nvPr/>
        </p:nvSpPr>
        <p:spPr>
          <a:xfrm>
            <a:off x="6633634" y="3458437"/>
            <a:ext cx="467427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No leakage</a:t>
            </a:r>
            <a:endParaRPr lang="en-US" sz="1600" dirty="0"/>
          </a:p>
        </p:txBody>
      </p:sp>
      <p:sp>
        <p:nvSpPr>
          <p:cNvPr id="19" name="Text 17"/>
          <p:cNvSpPr/>
          <p:nvPr/>
        </p:nvSpPr>
        <p:spPr>
          <a:xfrm>
            <a:off x="6633634" y="3778448"/>
            <a:ext cx="4674277"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Centring means are recomputed inside each fold. Test charges never touch exploration or selection.</a:t>
            </a:r>
            <a:endParaRPr lang="en-US" sz="1600" dirty="0"/>
          </a:p>
        </p:txBody>
      </p:sp>
      <p:sp>
        <p:nvSpPr>
          <p:cNvPr id="20" name="Text 18"/>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3 · METHODS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Metrics and diagnostics</a:t>
            </a:r>
            <a:endParaRPr lang="en-US" sz="3200" dirty="0"/>
          </a:p>
        </p:txBody>
      </p:sp>
      <p:grpSp>
        <p:nvGrpSpPr>
          <p:cNvPr id="24" name="Group 23">
            <a:extLst>
              <a:ext uri="{FF2B5EF4-FFF2-40B4-BE49-F238E27FC236}">
                <a16:creationId xmlns:a16="http://schemas.microsoft.com/office/drawing/2014/main" id="{65D0547D-31F7-7BD9-E872-0EDE39135F72}"/>
              </a:ext>
            </a:extLst>
          </p:cNvPr>
          <p:cNvGrpSpPr/>
          <p:nvPr/>
        </p:nvGrpSpPr>
        <p:grpSpPr>
          <a:xfrm>
            <a:off x="2250016" y="1881497"/>
            <a:ext cx="7047781" cy="3963904"/>
            <a:chOff x="815975" y="1806513"/>
            <a:chExt cx="5175250" cy="2871986"/>
          </a:xfrm>
        </p:grpSpPr>
        <p:sp>
          <p:nvSpPr>
            <p:cNvPr id="4" name="Shape 2"/>
            <p:cNvSpPr/>
            <p:nvPr/>
          </p:nvSpPr>
          <p:spPr>
            <a:xfrm>
              <a:off x="815975" y="1806513"/>
              <a:ext cx="5175250" cy="2871986"/>
            </a:xfrm>
            <a:prstGeom prst="roundRect">
              <a:avLst>
                <a:gd name="adj" fmla="val 3427"/>
              </a:avLst>
            </a:prstGeom>
            <a:solidFill>
              <a:srgbClr val="FDFCF9"/>
            </a:solidFill>
            <a:ln w="6350">
              <a:solidFill>
                <a:srgbClr val="D9DFE3"/>
              </a:solidFill>
              <a:prstDash val="solid"/>
            </a:ln>
          </p:spPr>
          <p:txBody>
            <a:bodyPr/>
            <a:lstStyle/>
            <a:p>
              <a:endParaRPr lang="en-US"/>
            </a:p>
          </p:txBody>
        </p:sp>
        <p:sp>
          <p:nvSpPr>
            <p:cNvPr id="5" name="Text 3"/>
            <p:cNvSpPr/>
            <p:nvPr/>
          </p:nvSpPr>
          <p:spPr>
            <a:xfrm>
              <a:off x="1071033" y="2061567"/>
              <a:ext cx="4805087" cy="36062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F2A43"/>
                  </a:solidFill>
                  <a:latin typeface="Source Serif 4" pitchFamily="18" charset="0"/>
                  <a:ea typeface="Source Serif 4" pitchFamily="18" charset="-122"/>
                  <a:cs typeface="Source Serif 4" pitchFamily="18" charset="-120"/>
                </a:rPr>
                <a:t>Judging predictions</a:t>
              </a:r>
              <a:endParaRPr lang="en-US" sz="2200" dirty="0"/>
            </a:p>
          </p:txBody>
        </p:sp>
        <p:sp>
          <p:nvSpPr>
            <p:cNvPr id="6" name="Text 4"/>
            <p:cNvSpPr/>
            <p:nvPr/>
          </p:nvSpPr>
          <p:spPr>
            <a:xfrm>
              <a:off x="1071033" y="2549196"/>
              <a:ext cx="4805087"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2A43"/>
                  </a:solidFill>
                  <a:latin typeface="IBM Plex Sans" pitchFamily="34" charset="0"/>
                  <a:ea typeface="IBM Plex Sans" pitchFamily="34" charset="-122"/>
                  <a:cs typeface="IBM Plex Sans" pitchFamily="34" charset="-120"/>
                </a:rPr>
                <a:t>MAE</a:t>
              </a:r>
              <a:endParaRPr lang="en-US" sz="1600" dirty="0"/>
            </a:p>
          </p:txBody>
        </p:sp>
        <p:sp>
          <p:nvSpPr>
            <p:cNvPr id="7" name="Text 5"/>
            <p:cNvSpPr/>
            <p:nvPr/>
          </p:nvSpPr>
          <p:spPr>
            <a:xfrm>
              <a:off x="1071033" y="2859025"/>
              <a:ext cx="480508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mean |y − ŷ|: average absolute miss, in charge units</a:t>
              </a:r>
              <a:endParaRPr lang="en-US" sz="1200" dirty="0"/>
            </a:p>
          </p:txBody>
        </p:sp>
        <p:sp>
          <p:nvSpPr>
            <p:cNvPr id="8" name="Text 6"/>
            <p:cNvSpPr/>
            <p:nvPr/>
          </p:nvSpPr>
          <p:spPr>
            <a:xfrm>
              <a:off x="1071033" y="3224746"/>
              <a:ext cx="4805087"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2A43"/>
                  </a:solidFill>
                  <a:latin typeface="IBM Plex Sans" pitchFamily="34" charset="0"/>
                  <a:ea typeface="IBM Plex Sans" pitchFamily="34" charset="-122"/>
                  <a:cs typeface="IBM Plex Sans" pitchFamily="34" charset="-120"/>
                </a:rPr>
                <a:t>RMSE</a:t>
              </a:r>
              <a:endParaRPr lang="en-US" sz="1600" dirty="0"/>
            </a:p>
          </p:txBody>
        </p:sp>
        <p:sp>
          <p:nvSpPr>
            <p:cNvPr id="9" name="Text 7"/>
            <p:cNvSpPr/>
            <p:nvPr/>
          </p:nvSpPr>
          <p:spPr>
            <a:xfrm>
              <a:off x="1071033" y="3534569"/>
              <a:ext cx="480508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 mean (y − ŷ)²: punishes large misses</a:t>
              </a:r>
              <a:endParaRPr lang="en-US" sz="1200" dirty="0"/>
            </a:p>
          </p:txBody>
        </p:sp>
        <p:sp>
          <p:nvSpPr>
            <p:cNvPr id="10" name="Text 8"/>
            <p:cNvSpPr/>
            <p:nvPr/>
          </p:nvSpPr>
          <p:spPr>
            <a:xfrm>
              <a:off x="1071033" y="3900289"/>
              <a:ext cx="4805087" cy="309827"/>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F2A43"/>
                  </a:solidFill>
                  <a:latin typeface="IBM Plex Sans" pitchFamily="34" charset="0"/>
                  <a:ea typeface="IBM Plex Sans" pitchFamily="34" charset="-122"/>
                  <a:cs typeface="IBM Plex Sans" pitchFamily="34" charset="-120"/>
                </a:rPr>
                <a:t>R²</a:t>
              </a:r>
              <a:endParaRPr lang="en-US" sz="1600" dirty="0"/>
            </a:p>
          </p:txBody>
        </p:sp>
        <p:sp>
          <p:nvSpPr>
            <p:cNvPr id="11" name="Text 9"/>
            <p:cNvSpPr/>
            <p:nvPr/>
          </p:nvSpPr>
          <p:spPr>
            <a:xfrm>
              <a:off x="1071033" y="4210118"/>
              <a:ext cx="480508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1 − SSE/SST: error relative to target spread</a:t>
              </a:r>
              <a:endParaRPr lang="en-US" sz="1200" dirty="0"/>
            </a:p>
          </p:txBody>
        </p:sp>
      </p:grpSp>
      <p:sp>
        <p:nvSpPr>
          <p:cNvPr id="22" name="Text 20"/>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4 · RESULTS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The interaction model wins validation</a:t>
            </a:r>
            <a:endParaRPr lang="en-US" sz="3200" dirty="0"/>
          </a:p>
        </p:txBody>
      </p:sp>
      <p:sp>
        <p:nvSpPr>
          <p:cNvPr id="4" name="Shape 2"/>
          <p:cNvSpPr/>
          <p:nvPr/>
        </p:nvSpPr>
        <p:spPr>
          <a:xfrm>
            <a:off x="815975" y="1806513"/>
            <a:ext cx="5708650" cy="2929467"/>
          </a:xfrm>
          <a:prstGeom prst="roundRect">
            <a:avLst>
              <a:gd name="adj" fmla="val 3360"/>
            </a:avLst>
          </a:prstGeom>
          <a:solidFill>
            <a:srgbClr val="FFFFFF"/>
          </a:solidFill>
          <a:ln w="6350">
            <a:solidFill>
              <a:srgbClr val="D9DFE3"/>
            </a:solidFill>
            <a:prstDash val="solid"/>
          </a:ln>
        </p:spPr>
        <p:txBody>
          <a:bodyPr/>
          <a:lstStyle/>
          <a:p>
            <a:endParaRPr lang="en-US"/>
          </a:p>
        </p:txBody>
      </p:sp>
      <p:pic>
        <p:nvPicPr>
          <p:cNvPr id="5" name="Image 0" descr="Bar chart of five-fold mean validation RMSE: additive about 6,100, interaction about 4,900, log interaction about 10,600"/>
          <p:cNvPicPr>
            <a:picLocks noChangeAspect="1"/>
          </p:cNvPicPr>
          <p:nvPr/>
        </p:nvPicPr>
        <p:blipFill>
          <a:blip r:embed="rId3"/>
          <a:srcRect l="-2" r="-2"/>
          <a:stretch/>
        </p:blipFill>
        <p:spPr>
          <a:xfrm>
            <a:off x="944033" y="1934567"/>
            <a:ext cx="5461000" cy="2673350"/>
          </a:xfrm>
          <a:prstGeom prst="rect">
            <a:avLst/>
          </a:prstGeom>
        </p:spPr>
      </p:pic>
      <p:sp>
        <p:nvSpPr>
          <p:cNvPr id="6" name="Text 3"/>
          <p:cNvSpPr/>
          <p:nvPr/>
        </p:nvSpPr>
        <p:spPr>
          <a:xfrm>
            <a:off x="6934200" y="1803338"/>
            <a:ext cx="4578350"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B26A00"/>
                </a:solidFill>
                <a:latin typeface="Source Serif 4" pitchFamily="18" charset="0"/>
                <a:ea typeface="Source Serif 4" pitchFamily="18" charset="-122"/>
                <a:cs typeface="Source Serif 4" pitchFamily="18" charset="-120"/>
              </a:rPr>
              <a:t>19.61%</a:t>
            </a:r>
            <a:endParaRPr lang="en-US" sz="4800" dirty="0"/>
          </a:p>
        </p:txBody>
      </p:sp>
      <p:sp>
        <p:nvSpPr>
          <p:cNvPr id="7" name="Text 4"/>
          <p:cNvSpPr/>
          <p:nvPr/>
        </p:nvSpPr>
        <p:spPr>
          <a:xfrm>
            <a:off x="6934200" y="2524658"/>
            <a:ext cx="4578350"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lower mean validation RMSE than the additive baseline</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946900" y="3258610"/>
          <a:ext cx="4432300" cy="1330588"/>
        </p:xfrm>
        <a:graphic>
          <a:graphicData uri="http://schemas.openxmlformats.org/drawingml/2006/table">
            <a:tbl>
              <a:tblPr/>
              <a:tblGrid>
                <a:gridCol w="2038858">
                  <a:extLst>
                    <a:ext uri="{9D8B030D-6E8A-4147-A177-3AD203B41FA5}">
                      <a16:colId xmlns:a16="http://schemas.microsoft.com/office/drawing/2014/main" val="20000"/>
                    </a:ext>
                  </a:extLst>
                </a:gridCol>
                <a:gridCol w="1196721">
                  <a:extLst>
                    <a:ext uri="{9D8B030D-6E8A-4147-A177-3AD203B41FA5}">
                      <a16:colId xmlns:a16="http://schemas.microsoft.com/office/drawing/2014/main" val="20001"/>
                    </a:ext>
                  </a:extLst>
                </a:gridCol>
                <a:gridCol w="1196721">
                  <a:extLst>
                    <a:ext uri="{9D8B030D-6E8A-4147-A177-3AD203B41FA5}">
                      <a16:colId xmlns:a16="http://schemas.microsoft.com/office/drawing/2014/main" val="20002"/>
                    </a:ext>
                  </a:extLst>
                </a:gridCol>
              </a:tblGrid>
              <a:tr h="332647">
                <a:tc>
                  <a:txBody>
                    <a:bodyPr/>
                    <a:lstStyle/>
                    <a:p>
                      <a:pPr marL="0" indent="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Candidate</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c>
                  <a:txBody>
                    <a:bodyPr/>
                    <a:lstStyle/>
                    <a:p>
                      <a:pPr marL="0" indent="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Mean RMSE</a:t>
                      </a:r>
                      <a:endParaRPr lang="en-US" sz="1200" dirty="0">
                        <a:latin typeface="IBM Plex Sans" charset="0"/>
                        <a:ea typeface="IBM Plex Sans" charset="0"/>
                        <a:cs typeface="IBM Plex Sans" charset="0"/>
                      </a:endParaRPr>
                    </a:p>
                  </a:txBody>
                  <a:tcPr marL="53340" marR="53340" marT="53340" marB="53340">
                    <a:lnL w="12700" cap="flat" cmpd="sng" algn="ctr">
                      <a:solidFill>
                        <a:srgbClr val="102538"/>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c>
                  <a:txBody>
                    <a:bodyPr/>
                    <a:lstStyle/>
                    <a:p>
                      <a:pPr marL="0" indent="0">
                        <a:lnSpc>
                          <a:spcPts val="1680"/>
                        </a:lnSpc>
                        <a:buNone/>
                      </a:pPr>
                      <a:r>
                        <a:rPr lang="en-US" sz="1200" b="1" dirty="0">
                          <a:solidFill>
                            <a:srgbClr val="F6F4EE"/>
                          </a:solidFill>
                          <a:latin typeface="IBM Plex Sans" pitchFamily="34" charset="0"/>
                          <a:ea typeface="IBM Plex Sans" pitchFamily="34" charset="-122"/>
                          <a:cs typeface="IBM Plex Sans" pitchFamily="34" charset="-120"/>
                        </a:rPr>
                        <a:t>Mean MAE</a:t>
                      </a:r>
                      <a:endParaRPr lang="en-US" sz="1200" dirty="0">
                        <a:latin typeface="IBM Plex Sans" charset="0"/>
                        <a:ea typeface="IBM Plex Sans" charset="0"/>
                        <a:cs typeface="IBM Plex Sans" charset="0"/>
                      </a:endParaRPr>
                    </a:p>
                  </a:txBody>
                  <a:tcPr marL="53340" marR="53340" marT="53340" marB="53340">
                    <a:lnL w="12700" cap="flat" cmpd="sng" algn="ctr">
                      <a:solidFill>
                        <a:srgbClr val="102538"/>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3F5166"/>
                          </a:solidFill>
                          <a:latin typeface="IBM Plex Sans" pitchFamily="34" charset="0"/>
                          <a:ea typeface="IBM Plex Sans" pitchFamily="34" charset="-122"/>
                          <a:cs typeface="IBM Plex Sans" pitchFamily="34" charset="-120"/>
                        </a:rPr>
                        <a:t>Additive OLS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3F5166"/>
                          </a:solidFill>
                          <a:latin typeface="IBM Plex Sans" pitchFamily="34" charset="0"/>
                          <a:ea typeface="IBM Plex Sans" pitchFamily="34" charset="-122"/>
                          <a:cs typeface="IBM Plex Sans" pitchFamily="34" charset="-120"/>
                        </a:rPr>
                        <a:t>6,107.20</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3F5166"/>
                          </a:solidFill>
                          <a:latin typeface="IBM Plex Sans" pitchFamily="34" charset="0"/>
                          <a:ea typeface="IBM Plex Sans" pitchFamily="34" charset="-122"/>
                          <a:cs typeface="IBM Plex Sans" pitchFamily="34" charset="-120"/>
                        </a:rPr>
                        <a:t>4,210.73</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3F5166"/>
                          </a:solidFill>
                          <a:latin typeface="IBM Plex Sans" pitchFamily="34" charset="0"/>
                          <a:ea typeface="IBM Plex Sans" pitchFamily="34" charset="-122"/>
                          <a:cs typeface="IBM Plex Sans" pitchFamily="34" charset="-120"/>
                        </a:rPr>
                        <a:t>Interaction OLS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5B89D"/>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B89D"/>
                      </a:solidFill>
                      <a:prstDash val="solid"/>
                      <a:round/>
                      <a:headEnd type="none" w="med" len="med"/>
                      <a:tailEnd type="none" w="med" len="med"/>
                    </a:lnB>
                    <a:solidFill>
                      <a:srgbClr val="F7E6C4"/>
                    </a:solidFill>
                  </a:tcPr>
                </a:tc>
                <a:tc>
                  <a:txBody>
                    <a:bodyPr/>
                    <a:lstStyle/>
                    <a:p>
                      <a:pPr marL="0" indent="0">
                        <a:lnSpc>
                          <a:spcPts val="1680"/>
                        </a:lnSpc>
                        <a:buNone/>
                      </a:pPr>
                      <a:r>
                        <a:rPr lang="en-US" sz="1200" dirty="0">
                          <a:solidFill>
                            <a:srgbClr val="3F5166"/>
                          </a:solidFill>
                          <a:latin typeface="IBM Plex Sans" pitchFamily="34" charset="0"/>
                          <a:ea typeface="IBM Plex Sans" pitchFamily="34" charset="-122"/>
                          <a:cs typeface="IBM Plex Sans" pitchFamily="34" charset="-120"/>
                        </a:rPr>
                        <a:t>4,909.40</a:t>
                      </a:r>
                      <a:endParaRPr lang="en-US" sz="1200" dirty="0">
                        <a:latin typeface="IBM Plex Sans" charset="0"/>
                        <a:ea typeface="IBM Plex Sans" charset="0"/>
                        <a:cs typeface="IBM Plex Sans" charset="0"/>
                      </a:endParaRPr>
                    </a:p>
                  </a:txBody>
                  <a:tcPr marL="53340" marR="53340" marT="53340" marB="53340">
                    <a:lnL w="12700" cap="flat" cmpd="sng" algn="ctr">
                      <a:solidFill>
                        <a:srgbClr val="C5B89D"/>
                      </a:solidFill>
                      <a:prstDash val="solid"/>
                      <a:round/>
                      <a:headEnd type="none" w="med" len="med"/>
                      <a:tailEnd type="none" w="med" len="med"/>
                    </a:lnL>
                    <a:lnR w="12700" cap="flat" cmpd="sng" algn="ctr">
                      <a:solidFill>
                        <a:srgbClr val="C5B89D"/>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B89D"/>
                      </a:solidFill>
                      <a:prstDash val="solid"/>
                      <a:round/>
                      <a:headEnd type="none" w="med" len="med"/>
                      <a:tailEnd type="none" w="med" len="med"/>
                    </a:lnB>
                    <a:solidFill>
                      <a:srgbClr val="F7E6C4"/>
                    </a:solidFill>
                  </a:tcPr>
                </a:tc>
                <a:tc>
                  <a:txBody>
                    <a:bodyPr/>
                    <a:lstStyle/>
                    <a:p>
                      <a:pPr marL="0" indent="0">
                        <a:lnSpc>
                          <a:spcPts val="1680"/>
                        </a:lnSpc>
                        <a:buNone/>
                      </a:pPr>
                      <a:r>
                        <a:rPr lang="en-US" sz="1200" dirty="0">
                          <a:solidFill>
                            <a:srgbClr val="3F5166"/>
                          </a:solidFill>
                          <a:latin typeface="IBM Plex Sans" pitchFamily="34" charset="0"/>
                          <a:ea typeface="IBM Plex Sans" pitchFamily="34" charset="-122"/>
                          <a:cs typeface="IBM Plex Sans" pitchFamily="34" charset="-120"/>
                        </a:rPr>
                        <a:t>2,986.02</a:t>
                      </a:r>
                      <a:endParaRPr lang="en-US" sz="1200" dirty="0">
                        <a:latin typeface="IBM Plex Sans" charset="0"/>
                        <a:ea typeface="IBM Plex Sans" charset="0"/>
                        <a:cs typeface="IBM Plex Sans" charset="0"/>
                      </a:endParaRPr>
                    </a:p>
                  </a:txBody>
                  <a:tcPr marL="53340" marR="53340" marT="53340" marB="53340">
                    <a:lnL w="12700" cap="flat" cmpd="sng" algn="ctr">
                      <a:solidFill>
                        <a:srgbClr val="C5B89D"/>
                      </a:solidFill>
                      <a:prstDash val="solid"/>
                      <a:round/>
                      <a:headEnd type="none" w="med" len="med"/>
                      <a:tailEnd type="none" w="med" len="med"/>
                    </a:lnL>
                    <a:lnR w="12700" cap="flat" cmpd="sng" algn="ctr">
                      <a:solidFill>
                        <a:srgbClr val="C5B89D"/>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C5B89D"/>
                      </a:solidFill>
                      <a:prstDash val="solid"/>
                      <a:round/>
                      <a:headEnd type="none" w="med" len="med"/>
                      <a:tailEnd type="none" w="med" len="med"/>
                    </a:lnB>
                    <a:solidFill>
                      <a:srgbClr val="F7E6C4"/>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3F5166"/>
                          </a:solidFill>
                          <a:latin typeface="IBM Plex Sans" pitchFamily="34" charset="0"/>
                          <a:ea typeface="IBM Plex Sans" pitchFamily="34" charset="-122"/>
                          <a:cs typeface="IBM Plex Sans" pitchFamily="34" charset="-120"/>
                        </a:rPr>
                        <a:t>Log interaction OLS</a:t>
                      </a:r>
                      <a:endParaRPr lang="en-US" sz="1200" dirty="0">
                        <a:latin typeface="IBM Plex Sans" charset="0"/>
                        <a:ea typeface="IBM Plex Sans" charset="0"/>
                        <a:cs typeface="IBM Plex Sans" charset="0"/>
                      </a:endParaRPr>
                    </a:p>
                  </a:txBody>
                  <a:tcPr marL="53340" marR="53340" marT="53340" marB="53340">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B89D"/>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3F5166"/>
                          </a:solidFill>
                          <a:latin typeface="IBM Plex Sans" pitchFamily="34" charset="0"/>
                          <a:ea typeface="IBM Plex Sans" pitchFamily="34" charset="-122"/>
                          <a:cs typeface="IBM Plex Sans" pitchFamily="34" charset="-120"/>
                        </a:rPr>
                        <a:t>10,622.51</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B89D"/>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1680"/>
                        </a:lnSpc>
                        <a:buNone/>
                      </a:pPr>
                      <a:r>
                        <a:rPr lang="en-US" sz="1200" dirty="0">
                          <a:solidFill>
                            <a:srgbClr val="3F5166"/>
                          </a:solidFill>
                          <a:latin typeface="IBM Plex Sans" pitchFamily="34" charset="0"/>
                          <a:ea typeface="IBM Plex Sans" pitchFamily="34" charset="-122"/>
                          <a:cs typeface="IBM Plex Sans" pitchFamily="34" charset="-120"/>
                        </a:rPr>
                        <a:t>5,193.15</a:t>
                      </a:r>
                      <a:endParaRPr lang="en-US" sz="1200" dirty="0">
                        <a:latin typeface="IBM Plex Sans" charset="0"/>
                        <a:ea typeface="IBM Plex Sans" charset="0"/>
                        <a:cs typeface="IBM Plex Sans" charset="0"/>
                      </a:endParaRPr>
                    </a:p>
                  </a:txBody>
                  <a:tcPr marL="53340" marR="53340" marT="53340" marB="5334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C5B89D"/>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bl>
          </a:graphicData>
        </a:graphic>
      </p:graphicFrame>
      <p:sp>
        <p:nvSpPr>
          <p:cNvPr id="9" name="Text 5"/>
          <p:cNvSpPr/>
          <p:nvPr/>
        </p:nvSpPr>
        <p:spPr>
          <a:xfrm>
            <a:off x="6934200" y="4741602"/>
            <a:ext cx="45783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Highlighted row: the selected model. Lower is better.</a:t>
            </a:r>
            <a:endParaRPr lang="en-US" sz="1200" dirty="0"/>
          </a:p>
        </p:txBody>
      </p:sp>
      <p:sp>
        <p:nvSpPr>
          <p:cNvPr id="10" name="Text 6"/>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4 · RESULTS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Out-of-fold residuals by model</a:t>
            </a:r>
            <a:endParaRPr lang="en-US" sz="3200" dirty="0"/>
          </a:p>
        </p:txBody>
      </p:sp>
      <p:sp>
        <p:nvSpPr>
          <p:cNvPr id="4" name="Shape 2"/>
          <p:cNvSpPr/>
          <p:nvPr/>
        </p:nvSpPr>
        <p:spPr>
          <a:xfrm>
            <a:off x="815975" y="1755713"/>
            <a:ext cx="10560050" cy="2389717"/>
          </a:xfrm>
          <a:prstGeom prst="roundRect">
            <a:avLst>
              <a:gd name="adj" fmla="val 4119"/>
            </a:avLst>
          </a:prstGeom>
          <a:solidFill>
            <a:srgbClr val="FFFFFF"/>
          </a:solidFill>
          <a:ln w="6350">
            <a:solidFill>
              <a:srgbClr val="D9DFE3"/>
            </a:solidFill>
            <a:prstDash val="solid"/>
          </a:ln>
        </p:spPr>
        <p:txBody>
          <a:bodyPr/>
          <a:lstStyle/>
          <a:p>
            <a:endParaRPr lang="en-US"/>
          </a:p>
        </p:txBody>
      </p:sp>
      <p:pic>
        <p:nvPicPr>
          <p:cNvPr id="5" name="Image 0" descr="Out-of-fold residuals against predicted charges for the additive, interaction and log interaction models, coloured by smoking status"/>
          <p:cNvPicPr>
            <a:picLocks noChangeAspect="1"/>
          </p:cNvPicPr>
          <p:nvPr/>
        </p:nvPicPr>
        <p:blipFill>
          <a:blip r:embed="rId3"/>
          <a:srcRect t="-69" b="-69"/>
          <a:stretch/>
        </p:blipFill>
        <p:spPr>
          <a:xfrm>
            <a:off x="1143000" y="1883767"/>
            <a:ext cx="9906000" cy="2133600"/>
          </a:xfrm>
          <a:prstGeom prst="rect">
            <a:avLst/>
          </a:prstGeom>
        </p:spPr>
      </p:pic>
      <p:sp>
        <p:nvSpPr>
          <p:cNvPr id="6" name="Shape 3"/>
          <p:cNvSpPr/>
          <p:nvPr/>
        </p:nvSpPr>
        <p:spPr>
          <a:xfrm>
            <a:off x="812800" y="4361328"/>
            <a:ext cx="3384550" cy="0"/>
          </a:xfrm>
          <a:prstGeom prst="line">
            <a:avLst/>
          </a:prstGeom>
          <a:noFill/>
          <a:ln w="19050">
            <a:solidFill>
              <a:srgbClr val="0E7C86"/>
            </a:solidFill>
            <a:prstDash val="solid"/>
          </a:ln>
        </p:spPr>
        <p:txBody>
          <a:bodyPr/>
          <a:lstStyle/>
          <a:p>
            <a:endParaRPr lang="en-US"/>
          </a:p>
        </p:txBody>
      </p:sp>
      <p:sp>
        <p:nvSpPr>
          <p:cNvPr id="7" name="Text 4"/>
          <p:cNvSpPr/>
          <p:nvPr/>
        </p:nvSpPr>
        <p:spPr>
          <a:xfrm>
            <a:off x="812800" y="4470336"/>
            <a:ext cx="3486087" cy="87868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F5166"/>
                </a:solidFill>
                <a:latin typeface="IBM Plex Sans" pitchFamily="34" charset="0"/>
                <a:ea typeface="IBM Plex Sans" pitchFamily="34" charset="-122"/>
                <a:cs typeface="IBM Plex Sans" pitchFamily="34" charset="-120"/>
              </a:rPr>
              <a:t>Additive OLS:</a:t>
            </a:r>
            <a:r>
              <a:rPr lang="en-US" sz="1600" dirty="0">
                <a:solidFill>
                  <a:srgbClr val="3F5166"/>
                </a:solidFill>
                <a:latin typeface="IBM Plex Sans" pitchFamily="34" charset="0"/>
                <a:ea typeface="IBM Plex Sans" pitchFamily="34" charset="-122"/>
                <a:cs typeface="IBM Plex Sans" pitchFamily="34" charset="-120"/>
              </a:rPr>
              <a:t> smoker residuals split into strong positive and negative bands.</a:t>
            </a:r>
            <a:endParaRPr lang="en-US" sz="1600" dirty="0"/>
          </a:p>
        </p:txBody>
      </p:sp>
      <p:sp>
        <p:nvSpPr>
          <p:cNvPr id="8" name="Shape 5"/>
          <p:cNvSpPr/>
          <p:nvPr/>
        </p:nvSpPr>
        <p:spPr>
          <a:xfrm>
            <a:off x="4400550" y="4361328"/>
            <a:ext cx="3384550" cy="0"/>
          </a:xfrm>
          <a:prstGeom prst="line">
            <a:avLst/>
          </a:prstGeom>
          <a:noFill/>
          <a:ln w="19050">
            <a:solidFill>
              <a:srgbClr val="0E7C86"/>
            </a:solidFill>
            <a:prstDash val="solid"/>
          </a:ln>
        </p:spPr>
        <p:txBody>
          <a:bodyPr/>
          <a:lstStyle/>
          <a:p>
            <a:endParaRPr lang="en-US"/>
          </a:p>
        </p:txBody>
      </p:sp>
      <p:sp>
        <p:nvSpPr>
          <p:cNvPr id="9" name="Text 6"/>
          <p:cNvSpPr/>
          <p:nvPr/>
        </p:nvSpPr>
        <p:spPr>
          <a:xfrm>
            <a:off x="4400550" y="4470336"/>
            <a:ext cx="3486087" cy="87868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F5166"/>
                </a:solidFill>
                <a:latin typeface="IBM Plex Sans" pitchFamily="34" charset="0"/>
                <a:ea typeface="IBM Plex Sans" pitchFamily="34" charset="-122"/>
                <a:cs typeface="IBM Plex Sans" pitchFamily="34" charset="-120"/>
              </a:rPr>
              <a:t>Interaction OLS:</a:t>
            </a:r>
            <a:r>
              <a:rPr lang="en-US" sz="1600" dirty="0">
                <a:solidFill>
                  <a:srgbClr val="3F5166"/>
                </a:solidFill>
                <a:latin typeface="IBM Plex Sans" pitchFamily="34" charset="0"/>
                <a:ea typeface="IBM Plex Sans" pitchFamily="34" charset="-122"/>
                <a:cs typeface="IBM Plex Sans" pitchFamily="34" charset="-120"/>
              </a:rPr>
              <a:t> the bands shrink, but large misses remain.</a:t>
            </a:r>
            <a:endParaRPr lang="en-US" sz="1600" dirty="0"/>
          </a:p>
        </p:txBody>
      </p:sp>
      <p:sp>
        <p:nvSpPr>
          <p:cNvPr id="10" name="Shape 7"/>
          <p:cNvSpPr/>
          <p:nvPr/>
        </p:nvSpPr>
        <p:spPr>
          <a:xfrm>
            <a:off x="7988300" y="4361328"/>
            <a:ext cx="3384550" cy="0"/>
          </a:xfrm>
          <a:prstGeom prst="line">
            <a:avLst/>
          </a:prstGeom>
          <a:noFill/>
          <a:ln w="19050">
            <a:solidFill>
              <a:srgbClr val="0E7C86"/>
            </a:solidFill>
            <a:prstDash val="solid"/>
          </a:ln>
        </p:spPr>
        <p:txBody>
          <a:bodyPr/>
          <a:lstStyle/>
          <a:p>
            <a:endParaRPr lang="en-US"/>
          </a:p>
        </p:txBody>
      </p:sp>
      <p:sp>
        <p:nvSpPr>
          <p:cNvPr id="11" name="Text 8"/>
          <p:cNvSpPr/>
          <p:nvPr/>
        </p:nvSpPr>
        <p:spPr>
          <a:xfrm>
            <a:off x="7988300" y="4470336"/>
            <a:ext cx="3486087" cy="87868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F5166"/>
                </a:solidFill>
                <a:latin typeface="IBM Plex Sans" pitchFamily="34" charset="0"/>
                <a:ea typeface="IBM Plex Sans" pitchFamily="34" charset="-122"/>
                <a:cs typeface="IBM Plex Sans" pitchFamily="34" charset="-120"/>
              </a:rPr>
              <a:t>Log interaction OLS:</a:t>
            </a:r>
            <a:r>
              <a:rPr lang="en-US" sz="1600" dirty="0">
                <a:solidFill>
                  <a:srgbClr val="3F5166"/>
                </a:solidFill>
                <a:latin typeface="IBM Plex Sans" pitchFamily="34" charset="0"/>
                <a:ea typeface="IBM Plex Sans" pitchFamily="34" charset="-122"/>
                <a:cs typeface="IBM Plex Sans" pitchFamily="34" charset="-120"/>
              </a:rPr>
              <a:t> some predictions exceed 100,000 units, with large overpredictions.</a:t>
            </a:r>
            <a:endParaRPr lang="en-US" sz="1600" dirty="0"/>
          </a:p>
        </p:txBody>
      </p:sp>
      <p:sp>
        <p:nvSpPr>
          <p:cNvPr id="12" name="Text 9"/>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4 · RESULTS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Final reserved-test performance</a:t>
            </a:r>
            <a:endParaRPr lang="en-US" sz="3200" dirty="0"/>
          </a:p>
        </p:txBody>
      </p:sp>
      <p:sp>
        <p:nvSpPr>
          <p:cNvPr id="4" name="Shape 2"/>
          <p:cNvSpPr/>
          <p:nvPr/>
        </p:nvSpPr>
        <p:spPr>
          <a:xfrm>
            <a:off x="812800" y="1752538"/>
            <a:ext cx="3386667" cy="1341041"/>
          </a:xfrm>
          <a:prstGeom prst="roundRect">
            <a:avLst>
              <a:gd name="adj" fmla="val 7576"/>
            </a:avLst>
          </a:prstGeom>
          <a:solidFill>
            <a:srgbClr val="0F2A43"/>
          </a:solidFill>
          <a:ln/>
        </p:spPr>
        <p:txBody>
          <a:bodyPr/>
          <a:lstStyle/>
          <a:p>
            <a:endParaRPr lang="en-US"/>
          </a:p>
        </p:txBody>
      </p:sp>
      <p:sp>
        <p:nvSpPr>
          <p:cNvPr id="5" name="Text 3"/>
          <p:cNvSpPr/>
          <p:nvPr/>
        </p:nvSpPr>
        <p:spPr>
          <a:xfrm>
            <a:off x="1016000" y="1955738"/>
            <a:ext cx="306967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TEST MAE</a:t>
            </a:r>
            <a:endParaRPr lang="en-US" sz="1200" dirty="0"/>
          </a:p>
        </p:txBody>
      </p:sp>
      <p:sp>
        <p:nvSpPr>
          <p:cNvPr id="6" name="Text 4"/>
          <p:cNvSpPr/>
          <p:nvPr/>
        </p:nvSpPr>
        <p:spPr>
          <a:xfrm>
            <a:off x="1016000" y="2219858"/>
            <a:ext cx="3069675"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6F4EE"/>
                </a:solidFill>
                <a:latin typeface="Source Serif 4" pitchFamily="18" charset="0"/>
                <a:ea typeface="Source Serif 4" pitchFamily="18" charset="-122"/>
                <a:cs typeface="Source Serif 4" pitchFamily="18" charset="-120"/>
              </a:rPr>
              <a:t>2,828.53</a:t>
            </a:r>
            <a:endParaRPr lang="en-US" sz="4800" dirty="0"/>
          </a:p>
        </p:txBody>
      </p:sp>
      <p:sp>
        <p:nvSpPr>
          <p:cNvPr id="7" name="Shape 5"/>
          <p:cNvSpPr/>
          <p:nvPr/>
        </p:nvSpPr>
        <p:spPr>
          <a:xfrm>
            <a:off x="4402667" y="1752538"/>
            <a:ext cx="3386667" cy="1341041"/>
          </a:xfrm>
          <a:prstGeom prst="roundRect">
            <a:avLst>
              <a:gd name="adj" fmla="val 7576"/>
            </a:avLst>
          </a:prstGeom>
          <a:solidFill>
            <a:srgbClr val="0F2A43"/>
          </a:solidFill>
          <a:ln/>
        </p:spPr>
        <p:txBody>
          <a:bodyPr/>
          <a:lstStyle/>
          <a:p>
            <a:endParaRPr lang="en-US"/>
          </a:p>
        </p:txBody>
      </p:sp>
      <p:sp>
        <p:nvSpPr>
          <p:cNvPr id="8" name="Text 6"/>
          <p:cNvSpPr/>
          <p:nvPr/>
        </p:nvSpPr>
        <p:spPr>
          <a:xfrm>
            <a:off x="4605867" y="1955738"/>
            <a:ext cx="306967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TEST RMSE</a:t>
            </a:r>
            <a:endParaRPr lang="en-US" sz="1200" dirty="0"/>
          </a:p>
        </p:txBody>
      </p:sp>
      <p:sp>
        <p:nvSpPr>
          <p:cNvPr id="9" name="Text 7"/>
          <p:cNvSpPr/>
          <p:nvPr/>
        </p:nvSpPr>
        <p:spPr>
          <a:xfrm>
            <a:off x="4605867" y="2219858"/>
            <a:ext cx="3069675"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6F4EE"/>
                </a:solidFill>
                <a:latin typeface="Source Serif 4" pitchFamily="18" charset="0"/>
                <a:ea typeface="Source Serif 4" pitchFamily="18" charset="-122"/>
                <a:cs typeface="Source Serif 4" pitchFamily="18" charset="-120"/>
              </a:rPr>
              <a:t>4,572.84</a:t>
            </a:r>
            <a:endParaRPr lang="en-US" sz="4800" dirty="0"/>
          </a:p>
        </p:txBody>
      </p:sp>
      <p:sp>
        <p:nvSpPr>
          <p:cNvPr id="10" name="Shape 8"/>
          <p:cNvSpPr/>
          <p:nvPr/>
        </p:nvSpPr>
        <p:spPr>
          <a:xfrm>
            <a:off x="7992534" y="1752538"/>
            <a:ext cx="3386667" cy="1341041"/>
          </a:xfrm>
          <a:prstGeom prst="roundRect">
            <a:avLst>
              <a:gd name="adj" fmla="val 7576"/>
            </a:avLst>
          </a:prstGeom>
          <a:solidFill>
            <a:srgbClr val="0F2A43"/>
          </a:solidFill>
          <a:ln/>
        </p:spPr>
        <p:txBody>
          <a:bodyPr/>
          <a:lstStyle/>
          <a:p>
            <a:endParaRPr lang="en-US"/>
          </a:p>
        </p:txBody>
      </p:sp>
      <p:sp>
        <p:nvSpPr>
          <p:cNvPr id="11" name="Text 9"/>
          <p:cNvSpPr/>
          <p:nvPr/>
        </p:nvSpPr>
        <p:spPr>
          <a:xfrm>
            <a:off x="8195734" y="1955738"/>
            <a:ext cx="3069675"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TEST R²</a:t>
            </a:r>
            <a:endParaRPr lang="en-US" sz="1200" dirty="0"/>
          </a:p>
        </p:txBody>
      </p:sp>
      <p:sp>
        <p:nvSpPr>
          <p:cNvPr id="12" name="Text 10"/>
          <p:cNvSpPr/>
          <p:nvPr/>
        </p:nvSpPr>
        <p:spPr>
          <a:xfrm>
            <a:off x="8195734" y="2219858"/>
            <a:ext cx="3069675" cy="695920"/>
          </a:xfrm>
          <a:prstGeom prst="rect">
            <a:avLst/>
          </a:prstGeom>
          <a:noFill/>
          <a:ln/>
        </p:spPr>
        <p:txBody>
          <a:bodyPr wrap="square" lIns="0" tIns="0" rIns="0" bIns="0" rtlCol="0" anchor="t">
            <a:normAutofit/>
          </a:bodyPr>
          <a:lstStyle/>
          <a:p>
            <a:pPr marL="0" indent="0" algn="l">
              <a:lnSpc>
                <a:spcPts val="5280"/>
              </a:lnSpc>
              <a:buNone/>
            </a:pPr>
            <a:r>
              <a:rPr lang="en-US" sz="4800" b="1" dirty="0">
                <a:solidFill>
                  <a:srgbClr val="F6F4EE"/>
                </a:solidFill>
                <a:latin typeface="Source Serif 4" pitchFamily="18" charset="0"/>
                <a:ea typeface="Source Serif 4" pitchFamily="18" charset="-122"/>
                <a:cs typeface="Source Serif 4" pitchFamily="18" charset="-120"/>
              </a:rPr>
              <a:t>0.8862</a:t>
            </a:r>
            <a:endParaRPr lang="en-US" sz="4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25500" y="3309479"/>
          <a:ext cx="10553700" cy="1757364"/>
        </p:xfrm>
        <a:graphic>
          <a:graphicData uri="http://schemas.openxmlformats.org/drawingml/2006/table">
            <a:tbl>
              <a:tblPr/>
              <a:tblGrid>
                <a:gridCol w="4221480">
                  <a:extLst>
                    <a:ext uri="{9D8B030D-6E8A-4147-A177-3AD203B41FA5}">
                      <a16:colId xmlns:a16="http://schemas.microsoft.com/office/drawing/2014/main" val="20000"/>
                    </a:ext>
                  </a:extLst>
                </a:gridCol>
                <a:gridCol w="2110740">
                  <a:extLst>
                    <a:ext uri="{9D8B030D-6E8A-4147-A177-3AD203B41FA5}">
                      <a16:colId xmlns:a16="http://schemas.microsoft.com/office/drawing/2014/main" val="20001"/>
                    </a:ext>
                  </a:extLst>
                </a:gridCol>
                <a:gridCol w="2110740">
                  <a:extLst>
                    <a:ext uri="{9D8B030D-6E8A-4147-A177-3AD203B41FA5}">
                      <a16:colId xmlns:a16="http://schemas.microsoft.com/office/drawing/2014/main" val="20002"/>
                    </a:ext>
                  </a:extLst>
                </a:gridCol>
                <a:gridCol w="2110740">
                  <a:extLst>
                    <a:ext uri="{9D8B030D-6E8A-4147-A177-3AD203B41FA5}">
                      <a16:colId xmlns:a16="http://schemas.microsoft.com/office/drawing/2014/main" val="20003"/>
                    </a:ext>
                  </a:extLst>
                </a:gridCol>
              </a:tblGrid>
              <a:tr h="439341">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Evaluation</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MAE</a:t>
                      </a:r>
                      <a:endParaRPr lang="en-US" sz="1600" dirty="0">
                        <a:latin typeface="IBM Plex Sans" charset="0"/>
                        <a:ea typeface="IBM Plex Sans" charset="0"/>
                        <a:cs typeface="IBM Plex Sans" charset="0"/>
                      </a:endParaRPr>
                    </a:p>
                  </a:txBody>
                  <a:tcPr marL="71120" marR="71120" marT="71120" marB="71120">
                    <a:lnL w="12700" cap="flat" cmpd="sng" algn="ctr">
                      <a:solidFill>
                        <a:srgbClr val="102538"/>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RMSE</a:t>
                      </a:r>
                      <a:endParaRPr lang="en-US" sz="1600" dirty="0">
                        <a:latin typeface="IBM Plex Sans" charset="0"/>
                        <a:ea typeface="IBM Plex Sans" charset="0"/>
                        <a:cs typeface="IBM Plex Sans" charset="0"/>
                      </a:endParaRPr>
                    </a:p>
                  </a:txBody>
                  <a:tcPr marL="71120" marR="71120" marT="71120" marB="71120">
                    <a:lnL w="12700" cap="flat" cmpd="sng" algn="ctr">
                      <a:solidFill>
                        <a:srgbClr val="102538"/>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R²</a:t>
                      </a:r>
                      <a:endParaRPr lang="en-US" sz="1600" dirty="0">
                        <a:latin typeface="IBM Plex Sans" charset="0"/>
                        <a:ea typeface="IBM Plex Sans" charset="0"/>
                        <a:cs typeface="IBM Plex Sans" charset="0"/>
                      </a:endParaRPr>
                    </a:p>
                  </a:txBody>
                  <a:tcPr marL="71120" marR="71120" marT="71120" marB="71120">
                    <a:lnL w="12700" cap="flat" cmpd="sng" algn="ctr">
                      <a:solidFill>
                        <a:srgbClr val="102538"/>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Training fit</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2,965.31</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4,896.46</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0.825</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Pooled out-of-fold</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2,986.32</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4,931.88</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0.822</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Reserved test</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C5B89D"/>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5B89D"/>
                      </a:solidFill>
                      <a:prstDash val="solid"/>
                      <a:round/>
                      <a:headEnd type="none" w="med" len="med"/>
                      <a:tailEnd type="none" w="med" len="med"/>
                    </a:lnB>
                    <a:solidFill>
                      <a:srgbClr val="F7E6C4"/>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2,828.53</a:t>
                      </a:r>
                      <a:endParaRPr lang="en-US" sz="1600" dirty="0">
                        <a:latin typeface="IBM Plex Sans" charset="0"/>
                        <a:ea typeface="IBM Plex Sans" charset="0"/>
                        <a:cs typeface="IBM Plex Sans" charset="0"/>
                      </a:endParaRPr>
                    </a:p>
                  </a:txBody>
                  <a:tcPr marL="71120" marR="71120" marT="71120" marB="71120">
                    <a:lnL w="12700" cap="flat" cmpd="sng" algn="ctr">
                      <a:solidFill>
                        <a:srgbClr val="C5B89D"/>
                      </a:solidFill>
                      <a:prstDash val="solid"/>
                      <a:round/>
                      <a:headEnd type="none" w="med" len="med"/>
                      <a:tailEnd type="none" w="med" len="med"/>
                    </a:lnL>
                    <a:lnR w="12700" cap="flat" cmpd="sng" algn="ctr">
                      <a:solidFill>
                        <a:srgbClr val="C5B89D"/>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5B89D"/>
                      </a:solidFill>
                      <a:prstDash val="solid"/>
                      <a:round/>
                      <a:headEnd type="none" w="med" len="med"/>
                      <a:tailEnd type="none" w="med" len="med"/>
                    </a:lnB>
                    <a:solidFill>
                      <a:srgbClr val="F7E6C4"/>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4,572.84</a:t>
                      </a:r>
                      <a:endParaRPr lang="en-US" sz="1600" dirty="0">
                        <a:latin typeface="IBM Plex Sans" charset="0"/>
                        <a:ea typeface="IBM Plex Sans" charset="0"/>
                        <a:cs typeface="IBM Plex Sans" charset="0"/>
                      </a:endParaRPr>
                    </a:p>
                  </a:txBody>
                  <a:tcPr marL="71120" marR="71120" marT="71120" marB="71120">
                    <a:lnL w="12700" cap="flat" cmpd="sng" algn="ctr">
                      <a:solidFill>
                        <a:srgbClr val="C5B89D"/>
                      </a:solidFill>
                      <a:prstDash val="solid"/>
                      <a:round/>
                      <a:headEnd type="none" w="med" len="med"/>
                      <a:tailEnd type="none" w="med" len="med"/>
                    </a:lnL>
                    <a:lnR w="12700" cap="flat" cmpd="sng" algn="ctr">
                      <a:solidFill>
                        <a:srgbClr val="C5B89D"/>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5B89D"/>
                      </a:solidFill>
                      <a:prstDash val="solid"/>
                      <a:round/>
                      <a:headEnd type="none" w="med" len="med"/>
                      <a:tailEnd type="none" w="med" len="med"/>
                    </a:lnB>
                    <a:solidFill>
                      <a:srgbClr val="F7E6C4"/>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0.8862</a:t>
                      </a:r>
                      <a:endParaRPr lang="en-US" sz="1600" dirty="0">
                        <a:latin typeface="IBM Plex Sans" charset="0"/>
                        <a:ea typeface="IBM Plex Sans" charset="0"/>
                        <a:cs typeface="IBM Plex Sans" charset="0"/>
                      </a:endParaRPr>
                    </a:p>
                  </a:txBody>
                  <a:tcPr marL="71120" marR="71120" marT="71120" marB="71120">
                    <a:lnL w="12700" cap="flat" cmpd="sng" algn="ctr">
                      <a:solidFill>
                        <a:srgbClr val="C5B89D"/>
                      </a:solidFill>
                      <a:prstDash val="solid"/>
                      <a:round/>
                      <a:headEnd type="none" w="med" len="med"/>
                      <a:tailEnd type="none" w="med" len="med"/>
                    </a:lnL>
                    <a:lnR w="12700" cap="flat" cmpd="sng" algn="ctr">
                      <a:solidFill>
                        <a:srgbClr val="C5B89D"/>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5B89D"/>
                      </a:solidFill>
                      <a:prstDash val="solid"/>
                      <a:round/>
                      <a:headEnd type="none" w="med" len="med"/>
                      <a:tailEnd type="none" w="med" len="med"/>
                    </a:lnB>
                    <a:solidFill>
                      <a:srgbClr val="F7E6C4"/>
                    </a:solidFill>
                  </a:tcPr>
                </a:tc>
                <a:extLst>
                  <a:ext uri="{0D108BD9-81ED-4DB2-BD59-A6C34878D82A}">
                    <a16:rowId xmlns:a16="http://schemas.microsoft.com/office/drawing/2014/main" val="10003"/>
                  </a:ext>
                </a:extLst>
              </a:tr>
            </a:tbl>
          </a:graphicData>
        </a:graphic>
      </p:graphicFrame>
      <p:sp>
        <p:nvSpPr>
          <p:cNvPr id="15" name="Text 12"/>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4 · RESULTS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Reserved test: where predictions land</a:t>
            </a:r>
            <a:endParaRPr lang="en-US" sz="3200" dirty="0"/>
          </a:p>
        </p:txBody>
      </p:sp>
      <p:sp>
        <p:nvSpPr>
          <p:cNvPr id="4" name="Shape 2"/>
          <p:cNvSpPr/>
          <p:nvPr/>
        </p:nvSpPr>
        <p:spPr>
          <a:xfrm>
            <a:off x="815975" y="1755713"/>
            <a:ext cx="10560050" cy="2821517"/>
          </a:xfrm>
          <a:prstGeom prst="roundRect">
            <a:avLst>
              <a:gd name="adj" fmla="val 3488"/>
            </a:avLst>
          </a:prstGeom>
          <a:solidFill>
            <a:srgbClr val="FFFFFF"/>
          </a:solidFill>
          <a:ln w="6350">
            <a:solidFill>
              <a:srgbClr val="D9DFE3"/>
            </a:solidFill>
            <a:prstDash val="solid"/>
          </a:ln>
        </p:spPr>
        <p:txBody>
          <a:bodyPr/>
          <a:lstStyle/>
          <a:p>
            <a:endParaRPr lang="en-US"/>
          </a:p>
        </p:txBody>
      </p:sp>
      <p:pic>
        <p:nvPicPr>
          <p:cNvPr id="5" name="Image 0" descr="Reserved test plots: actual versus predicted charges, residuals against predicted charges, and a histogram of residuals, coloured by smoking status"/>
          <p:cNvPicPr>
            <a:picLocks noChangeAspect="1"/>
          </p:cNvPicPr>
          <p:nvPr/>
        </p:nvPicPr>
        <p:blipFill>
          <a:blip r:embed="rId3"/>
          <a:srcRect t="-46" b="-46"/>
          <a:stretch/>
        </p:blipFill>
        <p:spPr>
          <a:xfrm>
            <a:off x="1143000" y="1883767"/>
            <a:ext cx="9906000" cy="2565400"/>
          </a:xfrm>
          <a:prstGeom prst="rect">
            <a:avLst/>
          </a:prstGeom>
        </p:spPr>
      </p:pic>
      <p:sp>
        <p:nvSpPr>
          <p:cNvPr id="6" name="Shape 3"/>
          <p:cNvSpPr/>
          <p:nvPr/>
        </p:nvSpPr>
        <p:spPr>
          <a:xfrm>
            <a:off x="812800" y="4793134"/>
            <a:ext cx="3384550" cy="0"/>
          </a:xfrm>
          <a:prstGeom prst="line">
            <a:avLst/>
          </a:prstGeom>
          <a:noFill/>
          <a:ln w="19050">
            <a:solidFill>
              <a:srgbClr val="0E7C86"/>
            </a:solidFill>
            <a:prstDash val="solid"/>
          </a:ln>
        </p:spPr>
        <p:txBody>
          <a:bodyPr/>
          <a:lstStyle/>
          <a:p>
            <a:endParaRPr lang="en-US"/>
          </a:p>
        </p:txBody>
      </p:sp>
      <p:sp>
        <p:nvSpPr>
          <p:cNvPr id="7" name="Text 4"/>
          <p:cNvSpPr/>
          <p:nvPr/>
        </p:nvSpPr>
        <p:spPr>
          <a:xfrm>
            <a:off x="812800" y="4902142"/>
            <a:ext cx="3486087" cy="87868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F5166"/>
                </a:solidFill>
                <a:latin typeface="IBM Plex Sans" pitchFamily="34" charset="0"/>
                <a:ea typeface="IBM Plex Sans" pitchFamily="34" charset="-122"/>
                <a:cs typeface="IBM Plex Sans" pitchFamily="34" charset="-120"/>
              </a:rPr>
              <a:t>Actual vs predicted:</a:t>
            </a:r>
            <a:r>
              <a:rPr lang="en-US" sz="1600" dirty="0">
                <a:solidFill>
                  <a:srgbClr val="3F5166"/>
                </a:solidFill>
                <a:latin typeface="IBM Plex Sans" pitchFamily="34" charset="0"/>
                <a:ea typeface="IBM Plex Sans" pitchFamily="34" charset="-122"/>
                <a:cs typeface="IBM Plex Sans" pitchFamily="34" charset="-120"/>
              </a:rPr>
              <a:t> low costs track well; some high costs are underpredicted.</a:t>
            </a:r>
            <a:endParaRPr lang="en-US" sz="1600" dirty="0"/>
          </a:p>
        </p:txBody>
      </p:sp>
      <p:sp>
        <p:nvSpPr>
          <p:cNvPr id="8" name="Shape 5"/>
          <p:cNvSpPr/>
          <p:nvPr/>
        </p:nvSpPr>
        <p:spPr>
          <a:xfrm>
            <a:off x="4400550" y="4793134"/>
            <a:ext cx="3384550" cy="0"/>
          </a:xfrm>
          <a:prstGeom prst="line">
            <a:avLst/>
          </a:prstGeom>
          <a:noFill/>
          <a:ln w="19050">
            <a:solidFill>
              <a:srgbClr val="0E7C86"/>
            </a:solidFill>
            <a:prstDash val="solid"/>
          </a:ln>
        </p:spPr>
        <p:txBody>
          <a:bodyPr/>
          <a:lstStyle/>
          <a:p>
            <a:endParaRPr lang="en-US"/>
          </a:p>
        </p:txBody>
      </p:sp>
      <p:sp>
        <p:nvSpPr>
          <p:cNvPr id="9" name="Text 6"/>
          <p:cNvSpPr/>
          <p:nvPr/>
        </p:nvSpPr>
        <p:spPr>
          <a:xfrm>
            <a:off x="4400550" y="4902142"/>
            <a:ext cx="3486087" cy="87868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F5166"/>
                </a:solidFill>
                <a:latin typeface="IBM Plex Sans" pitchFamily="34" charset="0"/>
                <a:ea typeface="IBM Plex Sans" pitchFamily="34" charset="-122"/>
                <a:cs typeface="IBM Plex Sans" pitchFamily="34" charset="-120"/>
              </a:rPr>
              <a:t>Residuals:</a:t>
            </a:r>
            <a:r>
              <a:rPr lang="en-US" sz="1600" dirty="0">
                <a:solidFill>
                  <a:srgbClr val="3F5166"/>
                </a:solidFill>
                <a:latin typeface="IBM Plex Sans" pitchFamily="34" charset="0"/>
                <a:ea typeface="IBM Plex Sans" pitchFamily="34" charset="-122"/>
                <a:cs typeface="IBM Plex Sans" pitchFamily="34" charset="-120"/>
              </a:rPr>
              <a:t> bands remain, so a good average still hides systematic misses.</a:t>
            </a:r>
            <a:endParaRPr lang="en-US" sz="1600" dirty="0"/>
          </a:p>
        </p:txBody>
      </p:sp>
      <p:sp>
        <p:nvSpPr>
          <p:cNvPr id="10" name="Shape 7"/>
          <p:cNvSpPr/>
          <p:nvPr/>
        </p:nvSpPr>
        <p:spPr>
          <a:xfrm>
            <a:off x="7988300" y="4793134"/>
            <a:ext cx="3384550" cy="0"/>
          </a:xfrm>
          <a:prstGeom prst="line">
            <a:avLst/>
          </a:prstGeom>
          <a:noFill/>
          <a:ln w="19050">
            <a:solidFill>
              <a:srgbClr val="0E7C86"/>
            </a:solidFill>
            <a:prstDash val="solid"/>
          </a:ln>
        </p:spPr>
        <p:txBody>
          <a:bodyPr/>
          <a:lstStyle/>
          <a:p>
            <a:endParaRPr lang="en-US"/>
          </a:p>
        </p:txBody>
      </p:sp>
      <p:sp>
        <p:nvSpPr>
          <p:cNvPr id="11" name="Text 8"/>
          <p:cNvSpPr/>
          <p:nvPr/>
        </p:nvSpPr>
        <p:spPr>
          <a:xfrm>
            <a:off x="7988300" y="4902142"/>
            <a:ext cx="3486087" cy="878681"/>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F5166"/>
                </a:solidFill>
                <a:latin typeface="IBM Plex Sans" pitchFamily="34" charset="0"/>
                <a:ea typeface="IBM Plex Sans" pitchFamily="34" charset="-122"/>
                <a:cs typeface="IBM Plex Sans" pitchFamily="34" charset="-120"/>
              </a:rPr>
              <a:t>Histogram:</a:t>
            </a:r>
            <a:r>
              <a:rPr lang="en-US" sz="1600" dirty="0">
                <a:solidFill>
                  <a:srgbClr val="3F5166"/>
                </a:solidFill>
                <a:latin typeface="IBM Plex Sans" pitchFamily="34" charset="0"/>
                <a:ea typeface="IBM Plex Sans" pitchFamily="34" charset="-122"/>
                <a:cs typeface="IBM Plex Sans" pitchFamily="34" charset="-120"/>
              </a:rPr>
              <a:t> most errors are small, with a tail of large misses.</a:t>
            </a:r>
            <a:endParaRPr lang="en-US" sz="1600" dirty="0"/>
          </a:p>
        </p:txBody>
      </p:sp>
      <p:sp>
        <p:nvSpPr>
          <p:cNvPr id="12" name="Text 9"/>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4 · RESULTS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Smokers are harder to predict</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8"/>
          <a:ext cx="10553700" cy="1318023"/>
        </p:xfrm>
        <a:graphic>
          <a:graphicData uri="http://schemas.openxmlformats.org/drawingml/2006/table">
            <a:tbl>
              <a:tblPr/>
              <a:tblGrid>
                <a:gridCol w="2955036">
                  <a:extLst>
                    <a:ext uri="{9D8B030D-6E8A-4147-A177-3AD203B41FA5}">
                      <a16:colId xmlns:a16="http://schemas.microsoft.com/office/drawing/2014/main" val="20000"/>
                    </a:ext>
                  </a:extLst>
                </a:gridCol>
                <a:gridCol w="1266444">
                  <a:extLst>
                    <a:ext uri="{9D8B030D-6E8A-4147-A177-3AD203B41FA5}">
                      <a16:colId xmlns:a16="http://schemas.microsoft.com/office/drawing/2014/main" val="20001"/>
                    </a:ext>
                  </a:extLst>
                </a:gridCol>
                <a:gridCol w="2110740">
                  <a:extLst>
                    <a:ext uri="{9D8B030D-6E8A-4147-A177-3AD203B41FA5}">
                      <a16:colId xmlns:a16="http://schemas.microsoft.com/office/drawing/2014/main" val="20002"/>
                    </a:ext>
                  </a:extLst>
                </a:gridCol>
                <a:gridCol w="2110740">
                  <a:extLst>
                    <a:ext uri="{9D8B030D-6E8A-4147-A177-3AD203B41FA5}">
                      <a16:colId xmlns:a16="http://schemas.microsoft.com/office/drawing/2014/main" val="20003"/>
                    </a:ext>
                  </a:extLst>
                </a:gridCol>
                <a:gridCol w="2110740">
                  <a:extLst>
                    <a:ext uri="{9D8B030D-6E8A-4147-A177-3AD203B41FA5}">
                      <a16:colId xmlns:a16="http://schemas.microsoft.com/office/drawing/2014/main" val="20004"/>
                    </a:ext>
                  </a:extLst>
                </a:gridCol>
              </a:tblGrid>
              <a:tr h="439341">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Test subgroup</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n</a:t>
                      </a:r>
                      <a:endParaRPr lang="en-US" sz="1600" dirty="0">
                        <a:latin typeface="IBM Plex Sans" charset="0"/>
                        <a:ea typeface="IBM Plex Sans" charset="0"/>
                        <a:cs typeface="IBM Plex Sans" charset="0"/>
                      </a:endParaRPr>
                    </a:p>
                  </a:txBody>
                  <a:tcPr marL="71120" marR="71120" marT="71120" marB="71120">
                    <a:lnL w="12700" cap="flat" cmpd="sng" algn="ctr">
                      <a:solidFill>
                        <a:srgbClr val="102538"/>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MAE</a:t>
                      </a:r>
                      <a:endParaRPr lang="en-US" sz="1600" dirty="0">
                        <a:latin typeface="IBM Plex Sans" charset="0"/>
                        <a:ea typeface="IBM Plex Sans" charset="0"/>
                        <a:cs typeface="IBM Plex Sans" charset="0"/>
                      </a:endParaRPr>
                    </a:p>
                  </a:txBody>
                  <a:tcPr marL="71120" marR="71120" marT="71120" marB="71120">
                    <a:lnL w="12700" cap="flat" cmpd="sng" algn="ctr">
                      <a:solidFill>
                        <a:srgbClr val="102538"/>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RMSE</a:t>
                      </a:r>
                      <a:endParaRPr lang="en-US" sz="1600" dirty="0">
                        <a:latin typeface="IBM Plex Sans" charset="0"/>
                        <a:ea typeface="IBM Plex Sans" charset="0"/>
                        <a:cs typeface="IBM Plex Sans" charset="0"/>
                      </a:endParaRPr>
                    </a:p>
                  </a:txBody>
                  <a:tcPr marL="71120" marR="71120" marT="71120" marB="71120">
                    <a:lnL w="12700" cap="flat" cmpd="sng" algn="ctr">
                      <a:solidFill>
                        <a:srgbClr val="102538"/>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R²</a:t>
                      </a:r>
                      <a:endParaRPr lang="en-US" sz="1600" dirty="0">
                        <a:latin typeface="IBM Plex Sans" charset="0"/>
                        <a:ea typeface="IBM Plex Sans" charset="0"/>
                        <a:cs typeface="IBM Plex Sans" charset="0"/>
                      </a:endParaRPr>
                    </a:p>
                  </a:txBody>
                  <a:tcPr marL="71120" marR="71120" marT="71120" marB="71120">
                    <a:lnL w="12700" cap="flat" cmpd="sng" algn="ctr">
                      <a:solidFill>
                        <a:srgbClr val="102538"/>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Non-smoker</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208</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2,282.29</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3,920.01</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0.516</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Smoker</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60</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4,722.17</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6,334.95</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0.714</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extLst>
                  <a:ext uri="{0D108BD9-81ED-4DB2-BD59-A6C34878D82A}">
                    <a16:rowId xmlns:a16="http://schemas.microsoft.com/office/drawing/2014/main" val="10002"/>
                  </a:ext>
                </a:extLst>
              </a:tr>
            </a:tbl>
          </a:graphicData>
        </a:graphic>
      </p:graphicFrame>
      <p:sp>
        <p:nvSpPr>
          <p:cNvPr id="5" name="Shape 2"/>
          <p:cNvSpPr/>
          <p:nvPr/>
        </p:nvSpPr>
        <p:spPr>
          <a:xfrm>
            <a:off x="815975" y="3391235"/>
            <a:ext cx="3380317" cy="1581811"/>
          </a:xfrm>
          <a:prstGeom prst="roundRect">
            <a:avLst>
              <a:gd name="adj" fmla="val 6222"/>
            </a:avLst>
          </a:prstGeom>
          <a:solidFill>
            <a:srgbClr val="FDFCF9"/>
          </a:solidFill>
          <a:ln w="6350">
            <a:solidFill>
              <a:srgbClr val="D9DFE3"/>
            </a:solidFill>
            <a:prstDash val="solid"/>
          </a:ln>
        </p:spPr>
        <p:txBody>
          <a:bodyPr/>
          <a:lstStyle/>
          <a:p>
            <a:endParaRPr lang="en-US"/>
          </a:p>
        </p:txBody>
      </p:sp>
      <p:sp>
        <p:nvSpPr>
          <p:cNvPr id="6" name="Text 3"/>
          <p:cNvSpPr/>
          <p:nvPr/>
        </p:nvSpPr>
        <p:spPr>
          <a:xfrm>
            <a:off x="1020233" y="3595489"/>
            <a:ext cx="3060954"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Larger absolute errors</a:t>
            </a:r>
            <a:endParaRPr lang="en-US" sz="1600" dirty="0"/>
          </a:p>
        </p:txBody>
      </p:sp>
      <p:sp>
        <p:nvSpPr>
          <p:cNvPr id="7" name="Text 4"/>
          <p:cNvSpPr/>
          <p:nvPr/>
        </p:nvSpPr>
        <p:spPr>
          <a:xfrm>
            <a:off x="1020233" y="3915507"/>
            <a:ext cx="3060954" cy="87868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Smokers have higher MAE and RMSE, so their typical misses are bigger.</a:t>
            </a:r>
            <a:endParaRPr lang="en-US" sz="1600" dirty="0"/>
          </a:p>
        </p:txBody>
      </p:sp>
      <p:sp>
        <p:nvSpPr>
          <p:cNvPr id="8" name="Shape 5"/>
          <p:cNvSpPr/>
          <p:nvPr/>
        </p:nvSpPr>
        <p:spPr>
          <a:xfrm>
            <a:off x="4405842" y="3391235"/>
            <a:ext cx="3380317" cy="1581811"/>
          </a:xfrm>
          <a:prstGeom prst="roundRect">
            <a:avLst>
              <a:gd name="adj" fmla="val 6222"/>
            </a:avLst>
          </a:prstGeom>
          <a:solidFill>
            <a:srgbClr val="FDFCF9"/>
          </a:solidFill>
          <a:ln w="6350">
            <a:solidFill>
              <a:srgbClr val="D9DFE3"/>
            </a:solidFill>
            <a:prstDash val="solid"/>
          </a:ln>
        </p:spPr>
        <p:txBody>
          <a:bodyPr/>
          <a:lstStyle/>
          <a:p>
            <a:endParaRPr lang="en-US"/>
          </a:p>
        </p:txBody>
      </p:sp>
      <p:sp>
        <p:nvSpPr>
          <p:cNvPr id="9" name="Text 6"/>
          <p:cNvSpPr/>
          <p:nvPr/>
        </p:nvSpPr>
        <p:spPr>
          <a:xfrm>
            <a:off x="4610100" y="3595489"/>
            <a:ext cx="3060954"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Higher R², not a better fit</a:t>
            </a:r>
            <a:endParaRPr lang="en-US" sz="1600" dirty="0"/>
          </a:p>
        </p:txBody>
      </p:sp>
      <p:sp>
        <p:nvSpPr>
          <p:cNvPr id="10" name="Text 7"/>
          <p:cNvSpPr/>
          <p:nvPr/>
        </p:nvSpPr>
        <p:spPr>
          <a:xfrm>
            <a:off x="4610100" y="3915507"/>
            <a:ext cx="3060954" cy="87868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Subgroup R² depends on each group's target variance, so it is not an error comparison.</a:t>
            </a:r>
            <a:endParaRPr lang="en-US" sz="1600" dirty="0"/>
          </a:p>
        </p:txBody>
      </p:sp>
      <p:sp>
        <p:nvSpPr>
          <p:cNvPr id="11" name="Shape 8"/>
          <p:cNvSpPr/>
          <p:nvPr/>
        </p:nvSpPr>
        <p:spPr>
          <a:xfrm>
            <a:off x="7995709" y="3391235"/>
            <a:ext cx="3380317" cy="1581811"/>
          </a:xfrm>
          <a:prstGeom prst="roundRect">
            <a:avLst>
              <a:gd name="adj" fmla="val 6222"/>
            </a:avLst>
          </a:prstGeom>
          <a:solidFill>
            <a:srgbClr val="FDFCF9"/>
          </a:solidFill>
          <a:ln w="6350">
            <a:solidFill>
              <a:srgbClr val="D9DFE3"/>
            </a:solidFill>
            <a:prstDash val="solid"/>
          </a:ln>
        </p:spPr>
        <p:txBody>
          <a:bodyPr/>
          <a:lstStyle/>
          <a:p>
            <a:endParaRPr lang="en-US"/>
          </a:p>
        </p:txBody>
      </p:sp>
      <p:sp>
        <p:nvSpPr>
          <p:cNvPr id="12" name="Text 9"/>
          <p:cNvSpPr/>
          <p:nvPr/>
        </p:nvSpPr>
        <p:spPr>
          <a:xfrm>
            <a:off x="8199967" y="3595489"/>
            <a:ext cx="3060954"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Small sample</a:t>
            </a:r>
            <a:endParaRPr lang="en-US" sz="1600" dirty="0"/>
          </a:p>
        </p:txBody>
      </p:sp>
      <p:sp>
        <p:nvSpPr>
          <p:cNvPr id="13" name="Text 10"/>
          <p:cNvSpPr/>
          <p:nvPr/>
        </p:nvSpPr>
        <p:spPr>
          <a:xfrm>
            <a:off x="8199967" y="3915507"/>
            <a:ext cx="3060954" cy="87868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Only 60 smokers in the test set, so broad conclusions are less secure.</a:t>
            </a:r>
            <a:endParaRPr lang="en-US" sz="1600" dirty="0"/>
          </a:p>
        </p:txBody>
      </p:sp>
      <p:sp>
        <p:nvSpPr>
          <p:cNvPr id="14" name="Text 11"/>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7860"/>
          </a:xfrm>
          <a:prstGeom prst="rect">
            <a:avLst/>
          </a:prstGeom>
          <a:noFill/>
          <a:ln/>
        </p:spPr>
        <p:txBody>
          <a:bodyPr wrap="square" lIns="0" tIns="0" rIns="0" bIns="0" rtlCol="0" anchor="t">
            <a:normAutofit/>
          </a:bodyPr>
          <a:lstStyle/>
          <a:p>
            <a:pPr marL="0" indent="0" algn="l">
              <a:lnSpc>
                <a:spcPts val="1675"/>
              </a:lnSpc>
              <a:buNone/>
            </a:pPr>
            <a:r>
              <a:rPr lang="en-US" sz="1196" b="1" kern="0" spc="150" dirty="0">
                <a:solidFill>
                  <a:srgbClr val="0E7C86"/>
                </a:solidFill>
                <a:latin typeface="IBM Plex Sans" pitchFamily="34" charset="0"/>
                <a:ea typeface="IBM Plex Sans" pitchFamily="34" charset="-122"/>
                <a:cs typeface="IBM Plex Sans" pitchFamily="34" charset="-120"/>
              </a:rPr>
              <a:t>4 · RESULTS</a:t>
            </a:r>
            <a:endParaRPr lang="en-US" sz="1196" dirty="0"/>
          </a:p>
        </p:txBody>
      </p:sp>
      <p:sp>
        <p:nvSpPr>
          <p:cNvPr id="3" name="Text 1"/>
          <p:cNvSpPr>
            <a:spLocks noGrp="1"/>
          </p:cNvSpPr>
          <p:nvPr>
            <p:ph type="title"/>
          </p:nvPr>
        </p:nvSpPr>
        <p:spPr>
          <a:xfrm>
            <a:off x="812800" y="1101465"/>
            <a:ext cx="10883392" cy="47069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Reading the fitted coefficients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3458"/>
          <a:ext cx="5448300" cy="3514728"/>
        </p:xfrm>
        <a:graphic>
          <a:graphicData uri="http://schemas.openxmlformats.org/drawingml/2006/table">
            <a:tbl>
              <a:tblPr/>
              <a:tblGrid>
                <a:gridCol w="3377946">
                  <a:extLst>
                    <a:ext uri="{9D8B030D-6E8A-4147-A177-3AD203B41FA5}">
                      <a16:colId xmlns:a16="http://schemas.microsoft.com/office/drawing/2014/main" val="20000"/>
                    </a:ext>
                  </a:extLst>
                </a:gridCol>
                <a:gridCol w="2070354">
                  <a:extLst>
                    <a:ext uri="{9D8B030D-6E8A-4147-A177-3AD203B41FA5}">
                      <a16:colId xmlns:a16="http://schemas.microsoft.com/office/drawing/2014/main" val="20001"/>
                    </a:ext>
                  </a:extLst>
                </a:gridCol>
              </a:tblGrid>
              <a:tr h="439341">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Term</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tc>
                  <a:txBody>
                    <a:bodyPr/>
                    <a:lstStyle/>
                    <a:p>
                      <a:pPr marL="0" indent="0">
                        <a:lnSpc>
                          <a:spcPts val="2240"/>
                        </a:lnSpc>
                        <a:buNone/>
                      </a:pPr>
                      <a:r>
                        <a:rPr lang="en-US" sz="1600" b="1" dirty="0">
                          <a:solidFill>
                            <a:srgbClr val="F6F4EE"/>
                          </a:solidFill>
                          <a:latin typeface="IBM Plex Sans" pitchFamily="34" charset="0"/>
                          <a:ea typeface="IBM Plex Sans" pitchFamily="34" charset="-122"/>
                          <a:cs typeface="IBM Plex Sans" pitchFamily="34" charset="-120"/>
                        </a:rPr>
                        <a:t>Coefficient</a:t>
                      </a:r>
                      <a:endParaRPr lang="en-US" sz="1600" dirty="0">
                        <a:latin typeface="IBM Plex Sans" charset="0"/>
                        <a:ea typeface="IBM Plex Sans" charset="0"/>
                        <a:cs typeface="IBM Plex Sans" charset="0"/>
                      </a:endParaRPr>
                    </a:p>
                  </a:txBody>
                  <a:tcPr marL="71120" marR="71120" marT="71120" marB="71120">
                    <a:lnL w="12700" cap="flat" cmpd="sng" algn="ctr">
                      <a:solidFill>
                        <a:srgbClr val="102538"/>
                      </a:solidFill>
                      <a:prstDash val="solid"/>
                      <a:round/>
                      <a:headEnd type="none" w="med" len="med"/>
                      <a:tailEnd type="none" w="med" len="med"/>
                    </a:lnL>
                    <a:lnR w="12700" cap="flat" cmpd="sng" algn="ctr">
                      <a:solidFill>
                        <a:srgbClr val="102538"/>
                      </a:solidFill>
                      <a:prstDash val="solid"/>
                      <a:round/>
                      <a:headEnd type="none" w="med" len="med"/>
                      <a:tailEnd type="none" w="med" len="med"/>
                    </a:lnR>
                    <a:lnT w="12700" cap="flat" cmpd="sng" algn="ctr">
                      <a:solidFill>
                        <a:srgbClr val="C4C3BE"/>
                      </a:solidFill>
                      <a:prstDash val="solid"/>
                      <a:round/>
                      <a:headEnd type="none" w="med" len="med"/>
                      <a:tailEnd type="none" w="med" len="med"/>
                    </a:lnT>
                    <a:lnB w="12700" cap="flat" cmpd="sng" algn="ctr">
                      <a:solidFill>
                        <a:srgbClr val="102538"/>
                      </a:solidFill>
                      <a:prstDash val="solid"/>
                      <a:round/>
                      <a:headEnd type="none" w="med" len="med"/>
                      <a:tailEnd type="none" w="med" len="med"/>
                    </a:lnB>
                    <a:solidFill>
                      <a:srgbClr val="0F2A43"/>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Intercept</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9,312.49</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102538"/>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Age (centred)</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259.11</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BMI (centred)</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12.44</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3"/>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Children (centred)</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570.55</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extLst>
                  <a:ext uri="{0D108BD9-81ED-4DB2-BD59-A6C34878D82A}">
                    <a16:rowId xmlns:a16="http://schemas.microsoft.com/office/drawing/2014/main" val="10004"/>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Male (vs female)</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−648.67</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5"/>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Smoker (at mean BMI)</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23,409.24</a:t>
                      </a:r>
                      <a:endParaRPr lang="en-US" sz="1600" dirty="0">
                        <a:latin typeface="IBM Plex Sans" charset="0"/>
                        <a:ea typeface="IBM Plex Sans" charset="0"/>
                        <a:cs typeface="IBM Plex Sans" charset="0"/>
                      </a:endParaRPr>
                    </a:p>
                  </a:txBody>
                  <a:tcPr marL="71120" marR="71120" marT="71120" marB="71120">
                    <a:lnL w="12700" cap="flat" cmpd="sng" algn="ctr">
                      <a:solidFill>
                        <a:srgbClr val="B9BEC0"/>
                      </a:solidFill>
                      <a:prstDash val="solid"/>
                      <a:round/>
                      <a:headEnd type="none" w="med" len="med"/>
                      <a:tailEnd type="none" w="med" len="med"/>
                    </a:lnL>
                    <a:lnR w="12700" cap="flat" cmpd="sng" algn="ctr">
                      <a:solidFill>
                        <a:srgbClr val="B9BEC0"/>
                      </a:solidFill>
                      <a:prstDash val="solid"/>
                      <a:round/>
                      <a:headEnd type="none" w="med" len="med"/>
                      <a:tailEnd type="none" w="med" len="med"/>
                    </a:lnR>
                    <a:lnT w="12700" cap="flat" cmpd="sng" algn="ctr">
                      <a:solidFill>
                        <a:srgbClr val="CAC9C6"/>
                      </a:solidFill>
                      <a:prstDash val="solid"/>
                      <a:round/>
                      <a:headEnd type="none" w="med" len="med"/>
                      <a:tailEnd type="none" w="med" len="med"/>
                    </a:lnT>
                    <a:lnB w="12700" cap="flat" cmpd="sng" algn="ctr">
                      <a:solidFill>
                        <a:srgbClr val="B9BEC0"/>
                      </a:solidFill>
                      <a:prstDash val="solid"/>
                      <a:round/>
                      <a:headEnd type="none" w="med" len="med"/>
                      <a:tailEnd type="none" w="med" len="med"/>
                    </a:lnB>
                    <a:solidFill>
                      <a:srgbClr val="E8EEF1"/>
                    </a:solidFill>
                  </a:tcPr>
                </a:tc>
                <a:extLst>
                  <a:ext uri="{0D108BD9-81ED-4DB2-BD59-A6C34878D82A}">
                    <a16:rowId xmlns:a16="http://schemas.microsoft.com/office/drawing/2014/main" val="10006"/>
                  </a:ext>
                </a:extLst>
              </a:tr>
              <a:tr h="439341">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BMI × smoker</a:t>
                      </a:r>
                      <a:endParaRPr lang="en-US" sz="1600" dirty="0">
                        <a:latin typeface="IBM Plex Sans" charset="0"/>
                        <a:ea typeface="IBM Plex Sans" charset="0"/>
                        <a:cs typeface="IBM Plex Sans" charset="0"/>
                      </a:endParaRPr>
                    </a:p>
                  </a:txBody>
                  <a:tcPr marL="71120" marR="71120" marT="71120" marB="71120">
                    <a:lnL w="12700" cap="flat" cmpd="sng" algn="ctr">
                      <a:solidFill>
                        <a:srgbClr val="C4C3BE"/>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tc>
                  <a:txBody>
                    <a:bodyPr/>
                    <a:lstStyle/>
                    <a:p>
                      <a:pPr marL="0" indent="0">
                        <a:lnSpc>
                          <a:spcPts val="2240"/>
                        </a:lnSpc>
                        <a:buNone/>
                      </a:pPr>
                      <a:r>
                        <a:rPr lang="en-US" sz="1600" dirty="0">
                          <a:solidFill>
                            <a:srgbClr val="3F5166"/>
                          </a:solidFill>
                          <a:latin typeface="IBM Plex Sans" pitchFamily="34" charset="0"/>
                          <a:ea typeface="IBM Plex Sans" pitchFamily="34" charset="-122"/>
                          <a:cs typeface="IBM Plex Sans" pitchFamily="34" charset="-120"/>
                        </a:rPr>
                        <a:t>1,476.64</a:t>
                      </a:r>
                      <a:endParaRPr lang="en-US" sz="1600" dirty="0">
                        <a:latin typeface="IBM Plex Sans" charset="0"/>
                        <a:ea typeface="IBM Plex Sans" charset="0"/>
                        <a:cs typeface="IBM Plex Sans" charset="0"/>
                      </a:endParaRPr>
                    </a:p>
                  </a:txBody>
                  <a:tcPr marL="71120" marR="71120" marT="71120" marB="71120">
                    <a:lnL w="12700" cap="flat" cmpd="sng" algn="ctr">
                      <a:solidFill>
                        <a:srgbClr val="CAC9C6"/>
                      </a:solidFill>
                      <a:prstDash val="solid"/>
                      <a:round/>
                      <a:headEnd type="none" w="med" len="med"/>
                      <a:tailEnd type="none" w="med" len="med"/>
                    </a:lnL>
                    <a:lnR w="12700" cap="flat" cmpd="sng" algn="ctr">
                      <a:solidFill>
                        <a:srgbClr val="CAC9C6"/>
                      </a:solidFill>
                      <a:prstDash val="solid"/>
                      <a:round/>
                      <a:headEnd type="none" w="med" len="med"/>
                      <a:tailEnd type="none" w="med" len="med"/>
                    </a:lnR>
                    <a:lnT w="12700" cap="flat" cmpd="sng" algn="ctr">
                      <a:solidFill>
                        <a:srgbClr val="B9BEC0"/>
                      </a:solidFill>
                      <a:prstDash val="solid"/>
                      <a:round/>
                      <a:headEnd type="none" w="med" len="med"/>
                      <a:tailEnd type="none" w="med" len="med"/>
                    </a:lnT>
                    <a:lnB w="12700" cap="flat" cmpd="sng" algn="ctr">
                      <a:solidFill>
                        <a:srgbClr val="CAC9C6"/>
                      </a:solidFill>
                      <a:prstDash val="solid"/>
                      <a:round/>
                      <a:headEnd type="none" w="med" len="med"/>
                      <a:tailEnd type="none" w="med" len="med"/>
                    </a:lnB>
                    <a:solidFill>
                      <a:srgbClr val="FDFCF9"/>
                    </a:solidFill>
                  </a:tcPr>
                </a:tc>
                <a:extLst>
                  <a:ext uri="{0D108BD9-81ED-4DB2-BD59-A6C34878D82A}">
                    <a16:rowId xmlns:a16="http://schemas.microsoft.com/office/drawing/2014/main" val="10007"/>
                  </a:ext>
                </a:extLst>
              </a:tr>
            </a:tbl>
          </a:graphicData>
        </a:graphic>
      </p:graphicFrame>
      <p:sp>
        <p:nvSpPr>
          <p:cNvPr id="5" name="Text 2"/>
          <p:cNvSpPr/>
          <p:nvPr/>
        </p:nvSpPr>
        <p:spPr>
          <a:xfrm>
            <a:off x="812800" y="5429783"/>
            <a:ext cx="5624830"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Region vs northeast: northwest −440.91, southeast −895.46, southwest −884.51.</a:t>
            </a:r>
            <a:endParaRPr lang="en-US" sz="1200" dirty="0"/>
          </a:p>
        </p:txBody>
      </p:sp>
      <p:sp>
        <p:nvSpPr>
          <p:cNvPr id="6" name="Shape 3"/>
          <p:cNvSpPr/>
          <p:nvPr/>
        </p:nvSpPr>
        <p:spPr>
          <a:xfrm>
            <a:off x="6680200" y="1800758"/>
            <a:ext cx="4699000" cy="1269868"/>
          </a:xfrm>
          <a:prstGeom prst="roundRect">
            <a:avLst>
              <a:gd name="adj" fmla="val 8001"/>
            </a:avLst>
          </a:prstGeom>
          <a:solidFill>
            <a:srgbClr val="0F2A43"/>
          </a:solidFill>
          <a:ln/>
        </p:spPr>
        <p:txBody>
          <a:bodyPr/>
          <a:lstStyle/>
          <a:p>
            <a:endParaRPr lang="en-US"/>
          </a:p>
        </p:txBody>
      </p:sp>
      <p:sp>
        <p:nvSpPr>
          <p:cNvPr id="7" name="Text 4"/>
          <p:cNvSpPr/>
          <p:nvPr/>
        </p:nvSpPr>
        <p:spPr>
          <a:xfrm>
            <a:off x="6883400" y="2003958"/>
            <a:ext cx="4421378"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SMOKER BMI SLOPE</a:t>
            </a:r>
            <a:endParaRPr lang="en-US" sz="1200" dirty="0"/>
          </a:p>
        </p:txBody>
      </p:sp>
      <p:sp>
        <p:nvSpPr>
          <p:cNvPr id="8" name="Text 5"/>
          <p:cNvSpPr/>
          <p:nvPr/>
        </p:nvSpPr>
        <p:spPr>
          <a:xfrm>
            <a:off x="6883400" y="2268079"/>
            <a:ext cx="4421378" cy="360627"/>
          </a:xfrm>
          <a:prstGeom prst="rect">
            <a:avLst/>
          </a:prstGeom>
          <a:noFill/>
          <a:ln/>
        </p:spPr>
        <p:txBody>
          <a:bodyPr wrap="square" lIns="0" tIns="0" rIns="0" bIns="0" rtlCol="0" anchor="t">
            <a:normAutofit/>
          </a:bodyPr>
          <a:lstStyle/>
          <a:p>
            <a:pPr marL="0" indent="0" algn="l">
              <a:lnSpc>
                <a:spcPts val="2640"/>
              </a:lnSpc>
              <a:buNone/>
            </a:pPr>
            <a:r>
              <a:rPr lang="en-US" sz="2200" dirty="0">
                <a:solidFill>
                  <a:srgbClr val="F6F4EE"/>
                </a:solidFill>
                <a:latin typeface="Source Serif 4" pitchFamily="18" charset="0"/>
                <a:ea typeface="Source Serif 4" pitchFamily="18" charset="-122"/>
                <a:cs typeface="Source Serif 4" pitchFamily="18" charset="-120"/>
              </a:rPr>
              <a:t>12.44 + 1,476.64 = 1,489.08</a:t>
            </a:r>
            <a:endParaRPr lang="en-US" sz="2200" dirty="0"/>
          </a:p>
        </p:txBody>
      </p:sp>
      <p:sp>
        <p:nvSpPr>
          <p:cNvPr id="9" name="Text 6"/>
          <p:cNvSpPr/>
          <p:nvPr/>
        </p:nvSpPr>
        <p:spPr>
          <a:xfrm>
            <a:off x="6883400" y="2654102"/>
            <a:ext cx="44213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5D5E0"/>
                </a:solidFill>
                <a:latin typeface="IBM Plex Sans" pitchFamily="34" charset="0"/>
                <a:ea typeface="IBM Plex Sans" pitchFamily="34" charset="-122"/>
                <a:cs typeface="IBM Plex Sans" pitchFamily="34" charset="-120"/>
              </a:rPr>
              <a:t>charge units per BMI point, against 12.44 for non-smokers</a:t>
            </a:r>
            <a:endParaRPr lang="en-US" sz="1200" dirty="0"/>
          </a:p>
        </p:txBody>
      </p:sp>
      <p:sp>
        <p:nvSpPr>
          <p:cNvPr id="10" name="Shape 7"/>
          <p:cNvSpPr/>
          <p:nvPr/>
        </p:nvSpPr>
        <p:spPr>
          <a:xfrm>
            <a:off x="6683375" y="3226197"/>
            <a:ext cx="4692650" cy="2237052"/>
          </a:xfrm>
          <a:prstGeom prst="roundRect">
            <a:avLst>
              <a:gd name="adj" fmla="val 4400"/>
            </a:avLst>
          </a:prstGeom>
          <a:solidFill>
            <a:srgbClr val="FDFCF9"/>
          </a:solidFill>
          <a:ln w="6350">
            <a:solidFill>
              <a:srgbClr val="D9DFE3"/>
            </a:solidFill>
            <a:prstDash val="solid"/>
          </a:ln>
        </p:spPr>
        <p:txBody>
          <a:bodyPr/>
          <a:lstStyle/>
          <a:p>
            <a:endParaRPr lang="en-US"/>
          </a:p>
        </p:txBody>
      </p:sp>
      <p:sp>
        <p:nvSpPr>
          <p:cNvPr id="11" name="Text 8"/>
          <p:cNvSpPr/>
          <p:nvPr/>
        </p:nvSpPr>
        <p:spPr>
          <a:xfrm>
            <a:off x="6887634" y="3430463"/>
            <a:ext cx="4412657"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0F2A43"/>
                </a:solidFill>
                <a:latin typeface="IBM Plex Sans" pitchFamily="34" charset="0"/>
                <a:ea typeface="IBM Plex Sans" pitchFamily="34" charset="-122"/>
                <a:cs typeface="IBM Plex Sans" pitchFamily="34" charset="-120"/>
              </a:rPr>
              <a:t>Worked example: test row 23</a:t>
            </a:r>
            <a:endParaRPr lang="en-US" sz="1600" dirty="0"/>
          </a:p>
        </p:txBody>
      </p:sp>
      <p:sp>
        <p:nvSpPr>
          <p:cNvPr id="12" name="Text 9"/>
          <p:cNvSpPr/>
          <p:nvPr/>
        </p:nvSpPr>
        <p:spPr>
          <a:xfrm>
            <a:off x="6887634" y="3750469"/>
            <a:ext cx="441265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5166"/>
                </a:solidFill>
                <a:latin typeface="IBM Plex Sans" pitchFamily="34" charset="0"/>
                <a:ea typeface="IBM Plex Sans" pitchFamily="34" charset="-122"/>
                <a:cs typeface="IBM Plex Sans" pitchFamily="34" charset="-120"/>
              </a:rPr>
              <a:t>34-year-old female smoker, BMI 31.92, one child, northeast: underpredicted</a:t>
            </a:r>
            <a:endParaRPr lang="en-US" sz="1200" dirty="0"/>
          </a:p>
        </p:txBody>
      </p:sp>
      <p:sp>
        <p:nvSpPr>
          <p:cNvPr id="13" name="Text 10"/>
          <p:cNvSpPr/>
          <p:nvPr/>
        </p:nvSpPr>
        <p:spPr>
          <a:xfrm>
            <a:off x="6887634" y="4253309"/>
            <a:ext cx="1052433"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Predicted</a:t>
            </a:r>
            <a:endParaRPr lang="en-US" sz="1600" dirty="0"/>
          </a:p>
        </p:txBody>
      </p:sp>
      <p:sp>
        <p:nvSpPr>
          <p:cNvPr id="14" name="Text 11"/>
          <p:cNvSpPr/>
          <p:nvPr/>
        </p:nvSpPr>
        <p:spPr>
          <a:xfrm>
            <a:off x="10001780" y="4253309"/>
            <a:ext cx="1169988" cy="309827"/>
          </a:xfrm>
          <a:prstGeom prst="rect">
            <a:avLst/>
          </a:prstGeom>
          <a:noFill/>
          <a:ln/>
        </p:spPr>
        <p:txBody>
          <a:bodyPr wrap="square" lIns="0" tIns="0" rIns="0" bIns="0" rtlCol="0" anchor="t">
            <a:normAutofit/>
          </a:bodyPr>
          <a:lstStyle/>
          <a:p>
            <a:pPr marL="0" indent="0" algn="r">
              <a:lnSpc>
                <a:spcPts val="2240"/>
              </a:lnSpc>
              <a:buNone/>
            </a:pPr>
            <a:r>
              <a:rPr lang="en-US" sz="1600" b="1" dirty="0">
                <a:solidFill>
                  <a:srgbClr val="0F2A43"/>
                </a:solidFill>
                <a:latin typeface="IBM Plex Sans" pitchFamily="34" charset="0"/>
                <a:ea typeface="IBM Plex Sans" pitchFamily="34" charset="-122"/>
                <a:cs typeface="IBM Plex Sans" pitchFamily="34" charset="-120"/>
              </a:rPr>
              <a:t>33,386.44</a:t>
            </a:r>
            <a:endParaRPr lang="en-US" sz="1600" dirty="0"/>
          </a:p>
        </p:txBody>
      </p:sp>
      <p:sp>
        <p:nvSpPr>
          <p:cNvPr id="15" name="Text 12"/>
          <p:cNvSpPr/>
          <p:nvPr/>
        </p:nvSpPr>
        <p:spPr>
          <a:xfrm>
            <a:off x="6887634" y="4613945"/>
            <a:ext cx="699611"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Actual</a:t>
            </a:r>
            <a:endParaRPr lang="en-US" sz="1600" dirty="0"/>
          </a:p>
        </p:txBody>
      </p:sp>
      <p:sp>
        <p:nvSpPr>
          <p:cNvPr id="16" name="Text 13"/>
          <p:cNvSpPr/>
          <p:nvPr/>
        </p:nvSpPr>
        <p:spPr>
          <a:xfrm>
            <a:off x="10001780" y="4613945"/>
            <a:ext cx="1169988" cy="309827"/>
          </a:xfrm>
          <a:prstGeom prst="rect">
            <a:avLst/>
          </a:prstGeom>
          <a:noFill/>
          <a:ln/>
        </p:spPr>
        <p:txBody>
          <a:bodyPr wrap="square" lIns="0" tIns="0" rIns="0" bIns="0" rtlCol="0" anchor="t">
            <a:normAutofit/>
          </a:bodyPr>
          <a:lstStyle/>
          <a:p>
            <a:pPr marL="0" indent="0" algn="r">
              <a:lnSpc>
                <a:spcPts val="2240"/>
              </a:lnSpc>
              <a:buNone/>
            </a:pPr>
            <a:r>
              <a:rPr lang="en-US" sz="1600" b="1" dirty="0">
                <a:solidFill>
                  <a:srgbClr val="0F2A43"/>
                </a:solidFill>
                <a:latin typeface="IBM Plex Sans" pitchFamily="34" charset="0"/>
                <a:ea typeface="IBM Plex Sans" pitchFamily="34" charset="-122"/>
                <a:cs typeface="IBM Plex Sans" pitchFamily="34" charset="-120"/>
              </a:rPr>
              <a:t>37,701.88</a:t>
            </a:r>
            <a:endParaRPr lang="en-US" sz="1600" dirty="0"/>
          </a:p>
        </p:txBody>
      </p:sp>
      <p:sp>
        <p:nvSpPr>
          <p:cNvPr id="17" name="Text 14"/>
          <p:cNvSpPr/>
          <p:nvPr/>
        </p:nvSpPr>
        <p:spPr>
          <a:xfrm>
            <a:off x="6887634" y="4974568"/>
            <a:ext cx="2571830"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Residual (full precision)</a:t>
            </a:r>
            <a:endParaRPr lang="en-US" sz="1600" dirty="0"/>
          </a:p>
        </p:txBody>
      </p:sp>
      <p:sp>
        <p:nvSpPr>
          <p:cNvPr id="18" name="Text 15"/>
          <p:cNvSpPr/>
          <p:nvPr/>
        </p:nvSpPr>
        <p:spPr>
          <a:xfrm>
            <a:off x="10001780" y="4974568"/>
            <a:ext cx="1169988" cy="309827"/>
          </a:xfrm>
          <a:prstGeom prst="rect">
            <a:avLst/>
          </a:prstGeom>
          <a:noFill/>
          <a:ln/>
        </p:spPr>
        <p:txBody>
          <a:bodyPr wrap="square" lIns="0" tIns="0" rIns="0" bIns="0" rtlCol="0" anchor="t">
            <a:normAutofit/>
          </a:bodyPr>
          <a:lstStyle/>
          <a:p>
            <a:pPr marL="0" indent="0" algn="r">
              <a:lnSpc>
                <a:spcPts val="2240"/>
              </a:lnSpc>
              <a:buNone/>
            </a:pPr>
            <a:r>
              <a:rPr lang="en-US" sz="1600" b="1" dirty="0">
                <a:solidFill>
                  <a:srgbClr val="0F2A43"/>
                </a:solidFill>
                <a:latin typeface="IBM Plex Sans" pitchFamily="34" charset="0"/>
                <a:ea typeface="IBM Plex Sans" pitchFamily="34" charset="-122"/>
                <a:cs typeface="IBM Plex Sans" pitchFamily="34" charset="-120"/>
              </a:rPr>
              <a:t>+4,315.43</a:t>
            </a:r>
            <a:endParaRPr lang="en-US" sz="1600" dirty="0"/>
          </a:p>
        </p:txBody>
      </p:sp>
      <p:sp>
        <p:nvSpPr>
          <p:cNvPr id="19" name="Text 16"/>
          <p:cNvSpPr/>
          <p:nvPr/>
        </p:nvSpPr>
        <p:spPr>
          <a:xfrm>
            <a:off x="812800" y="6264158"/>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5 · CONCLUSION</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What the evidence shows</a:t>
            </a:r>
            <a:endParaRPr lang="en-US" sz="3200" dirty="0"/>
          </a:p>
        </p:txBody>
      </p:sp>
      <p:sp>
        <p:nvSpPr>
          <p:cNvPr id="4" name="Shape 2"/>
          <p:cNvSpPr/>
          <p:nvPr/>
        </p:nvSpPr>
        <p:spPr>
          <a:xfrm>
            <a:off x="812800" y="1803338"/>
            <a:ext cx="5207000" cy="1481534"/>
          </a:xfrm>
          <a:prstGeom prst="roundRect">
            <a:avLst>
              <a:gd name="adj" fmla="val 6858"/>
            </a:avLst>
          </a:prstGeom>
          <a:solidFill>
            <a:srgbClr val="0F2A43"/>
          </a:solidFill>
          <a:ln/>
        </p:spPr>
        <p:txBody>
          <a:bodyPr/>
          <a:lstStyle/>
          <a:p>
            <a:endParaRPr lang="en-US"/>
          </a:p>
        </p:txBody>
      </p:sp>
      <p:sp>
        <p:nvSpPr>
          <p:cNvPr id="5" name="Text 3"/>
          <p:cNvSpPr/>
          <p:nvPr/>
        </p:nvSpPr>
        <p:spPr>
          <a:xfrm>
            <a:off x="1016000" y="2006538"/>
            <a:ext cx="4944618"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E8A33D"/>
                </a:solidFill>
                <a:latin typeface="Source Serif 4" pitchFamily="18" charset="0"/>
                <a:ea typeface="Source Serif 4" pitchFamily="18" charset="-122"/>
                <a:cs typeface="Source Serif 4" pitchFamily="18" charset="-120"/>
              </a:rPr>
              <a:t>19.61%</a:t>
            </a:r>
            <a:endParaRPr lang="en-US" sz="3200" dirty="0"/>
          </a:p>
        </p:txBody>
      </p:sp>
      <p:sp>
        <p:nvSpPr>
          <p:cNvPr id="6" name="Text 4"/>
          <p:cNvSpPr/>
          <p:nvPr/>
        </p:nvSpPr>
        <p:spPr>
          <a:xfrm>
            <a:off x="1016000" y="2504356"/>
            <a:ext cx="4944618"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6F4EE"/>
                </a:solidFill>
                <a:latin typeface="IBM Plex Sans" pitchFamily="34" charset="0"/>
                <a:ea typeface="IBM Plex Sans" pitchFamily="34" charset="-122"/>
                <a:cs typeface="IBM Plex Sans" pitchFamily="34" charset="-120"/>
              </a:rPr>
              <a:t>lower mean validation RMSE for the interaction model than for the additive baseline</a:t>
            </a:r>
            <a:endParaRPr lang="en-US" sz="1600" dirty="0"/>
          </a:p>
        </p:txBody>
      </p:sp>
      <p:sp>
        <p:nvSpPr>
          <p:cNvPr id="7" name="Shape 5"/>
          <p:cNvSpPr/>
          <p:nvPr/>
        </p:nvSpPr>
        <p:spPr>
          <a:xfrm>
            <a:off x="6175375" y="1806513"/>
            <a:ext cx="5200650" cy="1475184"/>
          </a:xfrm>
          <a:prstGeom prst="roundRect">
            <a:avLst>
              <a:gd name="adj" fmla="val 6672"/>
            </a:avLst>
          </a:prstGeom>
          <a:solidFill>
            <a:srgbClr val="FDFCF9"/>
          </a:solidFill>
          <a:ln w="6350">
            <a:solidFill>
              <a:srgbClr val="D9DFE3"/>
            </a:solidFill>
            <a:prstDash val="solid"/>
          </a:ln>
        </p:spPr>
        <p:txBody>
          <a:bodyPr/>
          <a:lstStyle/>
          <a:p>
            <a:endParaRPr lang="en-US"/>
          </a:p>
        </p:txBody>
      </p:sp>
      <p:sp>
        <p:nvSpPr>
          <p:cNvPr id="8" name="Text 6"/>
          <p:cNvSpPr/>
          <p:nvPr/>
        </p:nvSpPr>
        <p:spPr>
          <a:xfrm>
            <a:off x="6379633" y="2010767"/>
            <a:ext cx="4935897"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E7C86"/>
                </a:solidFill>
                <a:latin typeface="Source Serif 4" pitchFamily="18" charset="0"/>
                <a:ea typeface="Source Serif 4" pitchFamily="18" charset="-122"/>
                <a:cs typeface="Source Serif 4" pitchFamily="18" charset="-120"/>
              </a:rPr>
              <a:t>0.8862</a:t>
            </a:r>
            <a:endParaRPr lang="en-US" sz="3200" dirty="0"/>
          </a:p>
        </p:txBody>
      </p:sp>
      <p:sp>
        <p:nvSpPr>
          <p:cNvPr id="9" name="Text 7"/>
          <p:cNvSpPr/>
          <p:nvPr/>
        </p:nvSpPr>
        <p:spPr>
          <a:xfrm>
            <a:off x="6379633" y="2508585"/>
            <a:ext cx="4935897"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test R², with MAE 2,828.53 and RMSE 4,572.84 charge units on 268 reserved rows</a:t>
            </a:r>
            <a:endParaRPr lang="en-US" sz="1600" dirty="0"/>
          </a:p>
        </p:txBody>
      </p:sp>
      <p:sp>
        <p:nvSpPr>
          <p:cNvPr id="10" name="Shape 8"/>
          <p:cNvSpPr/>
          <p:nvPr/>
        </p:nvSpPr>
        <p:spPr>
          <a:xfrm>
            <a:off x="815975" y="3440447"/>
            <a:ext cx="5200650" cy="1475184"/>
          </a:xfrm>
          <a:prstGeom prst="roundRect">
            <a:avLst>
              <a:gd name="adj" fmla="val 6672"/>
            </a:avLst>
          </a:prstGeom>
          <a:solidFill>
            <a:srgbClr val="FDFCF9"/>
          </a:solidFill>
          <a:ln w="6350">
            <a:solidFill>
              <a:srgbClr val="D9DFE3"/>
            </a:solidFill>
            <a:prstDash val="solid"/>
          </a:ln>
        </p:spPr>
        <p:txBody>
          <a:bodyPr/>
          <a:lstStyle/>
          <a:p>
            <a:endParaRPr lang="en-US"/>
          </a:p>
        </p:txBody>
      </p:sp>
      <p:sp>
        <p:nvSpPr>
          <p:cNvPr id="11" name="Text 9"/>
          <p:cNvSpPr/>
          <p:nvPr/>
        </p:nvSpPr>
        <p:spPr>
          <a:xfrm>
            <a:off x="1020233" y="3644702"/>
            <a:ext cx="4935897" cy="472414"/>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E7C86"/>
                </a:solidFill>
                <a:latin typeface="Source Serif 4" pitchFamily="18" charset="0"/>
                <a:ea typeface="Source Serif 4" pitchFamily="18" charset="-122"/>
                <a:cs typeface="Source Serif 4" pitchFamily="18" charset="-120"/>
              </a:rPr>
              <a:t>10,622.51</a:t>
            </a:r>
            <a:endParaRPr lang="en-US" sz="3200" dirty="0"/>
          </a:p>
        </p:txBody>
      </p:sp>
      <p:sp>
        <p:nvSpPr>
          <p:cNvPr id="12" name="Text 10"/>
          <p:cNvSpPr/>
          <p:nvPr/>
        </p:nvSpPr>
        <p:spPr>
          <a:xfrm>
            <a:off x="1020233" y="4142519"/>
            <a:ext cx="4935897"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mean validation RMSE of the log model: not useful here, so it was not selected</a:t>
            </a:r>
            <a:endParaRPr lang="en-US" sz="1600" dirty="0"/>
          </a:p>
        </p:txBody>
      </p:sp>
      <p:sp>
        <p:nvSpPr>
          <p:cNvPr id="13" name="Shape 11"/>
          <p:cNvSpPr/>
          <p:nvPr/>
        </p:nvSpPr>
        <p:spPr>
          <a:xfrm>
            <a:off x="6175375" y="3440447"/>
            <a:ext cx="5200650" cy="1475184"/>
          </a:xfrm>
          <a:prstGeom prst="roundRect">
            <a:avLst>
              <a:gd name="adj" fmla="val 6672"/>
            </a:avLst>
          </a:prstGeom>
          <a:solidFill>
            <a:srgbClr val="FDFCF9"/>
          </a:solidFill>
          <a:ln w="6350">
            <a:solidFill>
              <a:srgbClr val="D9DFE3"/>
            </a:solidFill>
            <a:prstDash val="solid"/>
          </a:ln>
        </p:spPr>
        <p:txBody>
          <a:bodyPr/>
          <a:lstStyle/>
          <a:p>
            <a:endParaRPr lang="en-US"/>
          </a:p>
        </p:txBody>
      </p:sp>
      <p:sp>
        <p:nvSpPr>
          <p:cNvPr id="14" name="Text 12"/>
          <p:cNvSpPr/>
          <p:nvPr/>
        </p:nvSpPr>
        <p:spPr>
          <a:xfrm>
            <a:off x="6379633" y="3644702"/>
            <a:ext cx="4935897" cy="472414"/>
          </a:xfrm>
          <a:prstGeom prst="rect">
            <a:avLst/>
          </a:prstGeom>
          <a:noFill/>
          <a:ln/>
        </p:spPr>
        <p:txBody>
          <a:bodyPr wrap="square" lIns="0" tIns="0" rIns="0" bIns="0" rtlCol="0" anchor="t">
            <a:normAutofit lnSpcReduction="10000"/>
          </a:bodyPr>
          <a:lstStyle/>
          <a:p>
            <a:pPr marL="0" indent="0" algn="l">
              <a:lnSpc>
                <a:spcPct val="100000"/>
              </a:lnSpc>
              <a:buNone/>
            </a:pPr>
            <a:r>
              <a:rPr lang="en-US" sz="3200" b="1" dirty="0">
                <a:solidFill>
                  <a:srgbClr val="0E7C86"/>
                </a:solidFill>
                <a:latin typeface="Source Serif 4" pitchFamily="18" charset="0"/>
                <a:ea typeface="Source Serif 4" pitchFamily="18" charset="-122"/>
                <a:cs typeface="Source Serif 4" pitchFamily="18" charset="-120"/>
              </a:rPr>
              <a:t>2828.53 charge units</a:t>
            </a:r>
            <a:endParaRPr lang="en-US" sz="3200" dirty="0"/>
          </a:p>
        </p:txBody>
      </p:sp>
      <p:sp>
        <p:nvSpPr>
          <p:cNvPr id="15" name="Text 13"/>
          <p:cNvSpPr/>
          <p:nvPr/>
        </p:nvSpPr>
        <p:spPr>
          <a:xfrm>
            <a:off x="6379633" y="4142519"/>
            <a:ext cx="4935897" cy="594254"/>
          </a:xfrm>
          <a:prstGeom prst="rect">
            <a:avLst/>
          </a:prstGeom>
          <a:noFill/>
          <a:ln/>
        </p:spPr>
        <p:txBody>
          <a:bodyPr wrap="square" lIns="0" tIns="0" rIns="0" bIns="0" rtlCol="0" anchor="t">
            <a:normAutofit/>
          </a:bodyPr>
          <a:lstStyle/>
          <a:p>
            <a:r>
              <a:rPr lang="en-US" sz="1600" dirty="0">
                <a:solidFill>
                  <a:srgbClr val="3F5166"/>
                </a:solidFill>
                <a:latin typeface="IBM Plex Sans" pitchFamily="34" charset="0"/>
                <a:ea typeface="IBM Plex Sans" pitchFamily="34" charset="-122"/>
                <a:cs typeface="IBM Plex Sans" pitchFamily="34" charset="-120"/>
              </a:rPr>
              <a:t>Average </a:t>
            </a:r>
            <a:r>
              <a:rPr lang="en-US" sz="1600" dirty="0"/>
              <a:t>absolute difference between predicted and actual charges on 268 reserved test observations</a:t>
            </a:r>
          </a:p>
        </p:txBody>
      </p:sp>
      <p:sp>
        <p:nvSpPr>
          <p:cNvPr id="16" name="Text 14"/>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6F4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0E7C86"/>
                </a:solidFill>
                <a:latin typeface="IBM Plex Sans" pitchFamily="34" charset="0"/>
                <a:ea typeface="IBM Plex Sans" pitchFamily="34" charset="-122"/>
                <a:cs typeface="IBM Plex Sans" pitchFamily="34" charset="-120"/>
              </a:rPr>
              <a:t>5 · CONCLUSION</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0F2A43"/>
                </a:solidFill>
                <a:latin typeface="Source Serif 4" pitchFamily="18" charset="0"/>
                <a:ea typeface="Source Serif 4" pitchFamily="18" charset="-122"/>
                <a:cs typeface="Source Serif 4" pitchFamily="18" charset="-120"/>
              </a:rPr>
              <a:t>What the claims can and cannot say</a:t>
            </a:r>
            <a:endParaRPr lang="en-US" sz="3200" dirty="0"/>
          </a:p>
        </p:txBody>
      </p:sp>
      <p:pic>
        <p:nvPicPr>
          <p:cNvPr id="8" name="Image 1" descr="Check"/>
          <p:cNvPicPr>
            <a:picLocks noChangeAspect="1"/>
          </p:cNvPicPr>
          <p:nvPr/>
        </p:nvPicPr>
        <p:blipFill>
          <a:blip r:embed="rId3"/>
          <a:srcRect/>
          <a:stretch/>
        </p:blipFill>
        <p:spPr>
          <a:xfrm>
            <a:off x="1607800" y="3256293"/>
            <a:ext cx="254000" cy="254000"/>
          </a:xfrm>
          <a:prstGeom prst="rect">
            <a:avLst/>
          </a:prstGeom>
        </p:spPr>
      </p:pic>
      <p:pic>
        <p:nvPicPr>
          <p:cNvPr id="10" name="Image 2" descr="Check"/>
          <p:cNvPicPr>
            <a:picLocks noChangeAspect="1"/>
          </p:cNvPicPr>
          <p:nvPr/>
        </p:nvPicPr>
        <p:blipFill>
          <a:blip r:embed="rId3"/>
          <a:srcRect/>
          <a:stretch/>
        </p:blipFill>
        <p:spPr>
          <a:xfrm>
            <a:off x="1689123" y="3968820"/>
            <a:ext cx="254000" cy="254000"/>
          </a:xfrm>
          <a:prstGeom prst="rect">
            <a:avLst/>
          </a:prstGeom>
        </p:spPr>
      </p:pic>
      <p:pic>
        <p:nvPicPr>
          <p:cNvPr id="18" name="Image 5" descr="Warning"/>
          <p:cNvPicPr>
            <a:picLocks noChangeAspect="1"/>
          </p:cNvPicPr>
          <p:nvPr/>
        </p:nvPicPr>
        <p:blipFill>
          <a:blip r:embed="rId4"/>
          <a:srcRect/>
          <a:stretch/>
        </p:blipFill>
        <p:spPr>
          <a:xfrm>
            <a:off x="6405033" y="3245048"/>
            <a:ext cx="254000" cy="254000"/>
          </a:xfrm>
          <a:prstGeom prst="rect">
            <a:avLst/>
          </a:prstGeom>
        </p:spPr>
      </p:pic>
      <p:sp>
        <p:nvSpPr>
          <p:cNvPr id="21" name="Text 12"/>
          <p:cNvSpPr/>
          <p:nvPr/>
        </p:nvSpPr>
        <p:spPr>
          <a:xfrm>
            <a:off x="6786034" y="3656484"/>
            <a:ext cx="4421378" cy="309827"/>
          </a:xfrm>
          <a:prstGeom prst="rect">
            <a:avLst/>
          </a:prstGeom>
          <a:noFill/>
          <a:ln/>
        </p:spPr>
        <p:txBody>
          <a:bodyPr wrap="square" lIns="0" tIns="0" rIns="0" bIns="0" rtlCol="0" anchor="t">
            <a:normAutofit/>
          </a:bodyPr>
          <a:lstStyle/>
          <a:p>
            <a:pPr marL="0" indent="0" algn="l">
              <a:lnSpc>
                <a:spcPts val="2240"/>
              </a:lnSpc>
              <a:buNone/>
            </a:pPr>
            <a:endParaRPr lang="en-US" sz="1600" dirty="0"/>
          </a:p>
        </p:txBody>
      </p:sp>
      <p:grpSp>
        <p:nvGrpSpPr>
          <p:cNvPr id="37" name="Group 36">
            <a:extLst>
              <a:ext uri="{FF2B5EF4-FFF2-40B4-BE49-F238E27FC236}">
                <a16:creationId xmlns:a16="http://schemas.microsoft.com/office/drawing/2014/main" id="{8654CA88-A6CA-24DF-BBBD-4F49D8A446C2}"/>
              </a:ext>
            </a:extLst>
          </p:cNvPr>
          <p:cNvGrpSpPr/>
          <p:nvPr/>
        </p:nvGrpSpPr>
        <p:grpSpPr>
          <a:xfrm>
            <a:off x="6200775" y="1755713"/>
            <a:ext cx="5175250" cy="2558253"/>
            <a:chOff x="6200775" y="1755713"/>
            <a:chExt cx="5175250" cy="2800879"/>
          </a:xfrm>
        </p:grpSpPr>
        <p:sp>
          <p:nvSpPr>
            <p:cNvPr id="12" name="Shape 7"/>
            <p:cNvSpPr/>
            <p:nvPr/>
          </p:nvSpPr>
          <p:spPr>
            <a:xfrm>
              <a:off x="6200775" y="1755713"/>
              <a:ext cx="5175250" cy="2800879"/>
            </a:xfrm>
            <a:prstGeom prst="roundRect">
              <a:avLst>
                <a:gd name="adj" fmla="val 3514"/>
              </a:avLst>
            </a:prstGeom>
            <a:solidFill>
              <a:srgbClr val="E8EEF1"/>
            </a:solidFill>
            <a:ln w="6350">
              <a:solidFill>
                <a:srgbClr val="D9DFE3"/>
              </a:solidFill>
              <a:prstDash val="solid"/>
            </a:ln>
          </p:spPr>
          <p:txBody>
            <a:bodyPr/>
            <a:lstStyle/>
            <a:p>
              <a:endParaRPr lang="en-US"/>
            </a:p>
          </p:txBody>
        </p:sp>
        <p:sp>
          <p:nvSpPr>
            <p:cNvPr id="13" name="Text 8"/>
            <p:cNvSpPr/>
            <p:nvPr/>
          </p:nvSpPr>
          <p:spPr>
            <a:xfrm>
              <a:off x="6405033" y="1959967"/>
              <a:ext cx="4909735" cy="360627"/>
            </a:xfrm>
            <a:prstGeom prst="rect">
              <a:avLst/>
            </a:prstGeom>
            <a:noFill/>
            <a:ln/>
          </p:spPr>
          <p:txBody>
            <a:bodyPr wrap="square" lIns="0" tIns="0" rIns="0" bIns="0" rtlCol="0" anchor="t">
              <a:normAutofit fontScale="92500"/>
            </a:bodyPr>
            <a:lstStyle/>
            <a:p>
              <a:pPr marL="0" indent="0" algn="l">
                <a:lnSpc>
                  <a:spcPts val="2640"/>
                </a:lnSpc>
                <a:buNone/>
              </a:pPr>
              <a:r>
                <a:rPr lang="en-US" sz="2200" b="1" dirty="0">
                  <a:solidFill>
                    <a:srgbClr val="0F2A43"/>
                  </a:solidFill>
                  <a:latin typeface="Source Serif 4" pitchFamily="18" charset="0"/>
                  <a:ea typeface="Source Serif 4" pitchFamily="18" charset="-122"/>
                  <a:cs typeface="Source Serif 4" pitchFamily="18" charset="-120"/>
                </a:rPr>
                <a:t>What it does NOT say</a:t>
              </a:r>
              <a:endParaRPr lang="en-US" sz="2200" dirty="0"/>
            </a:p>
          </p:txBody>
        </p:sp>
        <p:pic>
          <p:nvPicPr>
            <p:cNvPr id="14" name="Image 3" descr="Warning"/>
            <p:cNvPicPr>
              <a:picLocks noChangeAspect="1"/>
            </p:cNvPicPr>
            <p:nvPr/>
          </p:nvPicPr>
          <p:blipFill>
            <a:blip r:embed="rId4"/>
            <a:srcRect/>
            <a:stretch/>
          </p:blipFill>
          <p:spPr>
            <a:xfrm>
              <a:off x="6405033" y="2422203"/>
              <a:ext cx="254000" cy="254000"/>
            </a:xfrm>
            <a:prstGeom prst="rect">
              <a:avLst/>
            </a:prstGeom>
          </p:spPr>
        </p:pic>
        <p:sp>
          <p:nvSpPr>
            <p:cNvPr id="15" name="Text 9"/>
            <p:cNvSpPr/>
            <p:nvPr/>
          </p:nvSpPr>
          <p:spPr>
            <a:xfrm>
              <a:off x="6786034" y="2422203"/>
              <a:ext cx="442137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“88.62% accuracy”</a:t>
              </a:r>
              <a:endParaRPr lang="en-US" sz="1600" dirty="0"/>
            </a:p>
          </p:txBody>
        </p:sp>
        <p:pic>
          <p:nvPicPr>
            <p:cNvPr id="16" name="Image 4" descr="Warning"/>
            <p:cNvPicPr>
              <a:picLocks noChangeAspect="1"/>
            </p:cNvPicPr>
            <p:nvPr/>
          </p:nvPicPr>
          <p:blipFill>
            <a:blip r:embed="rId4"/>
            <a:srcRect/>
            <a:stretch/>
          </p:blipFill>
          <p:spPr>
            <a:xfrm>
              <a:off x="6405033" y="2833625"/>
              <a:ext cx="254000" cy="254000"/>
            </a:xfrm>
            <a:prstGeom prst="rect">
              <a:avLst/>
            </a:prstGeom>
          </p:spPr>
        </p:pic>
        <p:sp>
          <p:nvSpPr>
            <p:cNvPr id="17" name="Text 10"/>
            <p:cNvSpPr/>
            <p:nvPr/>
          </p:nvSpPr>
          <p:spPr>
            <a:xfrm>
              <a:off x="6786034" y="2833625"/>
              <a:ext cx="442137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“All assumptions passed”</a:t>
              </a:r>
              <a:endParaRPr lang="en-US" sz="1600" dirty="0"/>
            </a:p>
          </p:txBody>
        </p:sp>
        <p:sp>
          <p:nvSpPr>
            <p:cNvPr id="19" name="Text 11"/>
            <p:cNvSpPr/>
            <p:nvPr/>
          </p:nvSpPr>
          <p:spPr>
            <a:xfrm>
              <a:off x="6786034" y="3245048"/>
              <a:ext cx="442137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“Smoking causes this exact cost increase”</a:t>
              </a:r>
              <a:endParaRPr lang="en-US" sz="1600" dirty="0"/>
            </a:p>
          </p:txBody>
        </p:sp>
        <p:pic>
          <p:nvPicPr>
            <p:cNvPr id="22" name="Image 7" descr="Warning"/>
            <p:cNvPicPr>
              <a:picLocks noChangeAspect="1"/>
            </p:cNvPicPr>
            <p:nvPr/>
          </p:nvPicPr>
          <p:blipFill>
            <a:blip r:embed="rId4"/>
            <a:srcRect/>
            <a:stretch/>
          </p:blipFill>
          <p:spPr>
            <a:xfrm>
              <a:off x="6405033" y="3731049"/>
              <a:ext cx="254000" cy="254000"/>
            </a:xfrm>
            <a:prstGeom prst="rect">
              <a:avLst/>
            </a:prstGeom>
          </p:spPr>
        </p:pic>
        <p:sp>
          <p:nvSpPr>
            <p:cNvPr id="23" name="Text 13"/>
            <p:cNvSpPr/>
            <p:nvPr/>
          </p:nvSpPr>
          <p:spPr>
            <a:xfrm>
              <a:off x="6786034" y="3731049"/>
              <a:ext cx="442137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“Logging always improves skewed targets”</a:t>
              </a:r>
              <a:endParaRPr lang="en-US" sz="1600" dirty="0"/>
            </a:p>
          </p:txBody>
        </p:sp>
      </p:grpSp>
      <p:sp>
        <p:nvSpPr>
          <p:cNvPr id="25" name="Text 15"/>
          <p:cNvSpPr/>
          <p:nvPr/>
        </p:nvSpPr>
        <p:spPr>
          <a:xfrm>
            <a:off x="812800" y="6238280"/>
            <a:ext cx="65405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A6B7E"/>
                </a:solidFill>
                <a:latin typeface="IBM Plex Sans" pitchFamily="34" charset="0"/>
                <a:ea typeface="IBM Plex Sans" pitchFamily="34" charset="-122"/>
                <a:cs typeface="IBM Plex Sans" pitchFamily="34" charset="-120"/>
              </a:rPr>
              <a:t>Insurance charges prediction</a:t>
            </a:r>
            <a:endParaRPr lang="en-US" sz="1200" dirty="0"/>
          </a:p>
        </p:txBody>
      </p:sp>
      <p:pic>
        <p:nvPicPr>
          <p:cNvPr id="30" name="Image 0" descr="Check">
            <a:extLst>
              <a:ext uri="{FF2B5EF4-FFF2-40B4-BE49-F238E27FC236}">
                <a16:creationId xmlns:a16="http://schemas.microsoft.com/office/drawing/2014/main" id="{66B2E8C5-AFBE-0102-0C83-245E0EC88E71}"/>
              </a:ext>
            </a:extLst>
          </p:cNvPr>
          <p:cNvPicPr>
            <a:picLocks noChangeAspect="1"/>
          </p:cNvPicPr>
          <p:nvPr/>
        </p:nvPicPr>
        <p:blipFill>
          <a:blip r:embed="rId3"/>
          <a:srcRect/>
          <a:stretch/>
        </p:blipFill>
        <p:spPr>
          <a:xfrm>
            <a:off x="1628183" y="3222032"/>
            <a:ext cx="254000" cy="254000"/>
          </a:xfrm>
          <a:prstGeom prst="rect">
            <a:avLst/>
          </a:prstGeom>
        </p:spPr>
      </p:pic>
      <p:grpSp>
        <p:nvGrpSpPr>
          <p:cNvPr id="36" name="Group 35">
            <a:extLst>
              <a:ext uri="{FF2B5EF4-FFF2-40B4-BE49-F238E27FC236}">
                <a16:creationId xmlns:a16="http://schemas.microsoft.com/office/drawing/2014/main" id="{514753A4-F2CB-502B-D9F4-4A502B04BD58}"/>
              </a:ext>
            </a:extLst>
          </p:cNvPr>
          <p:cNvGrpSpPr/>
          <p:nvPr/>
        </p:nvGrpSpPr>
        <p:grpSpPr>
          <a:xfrm>
            <a:off x="1164173" y="1755713"/>
            <a:ext cx="4649637" cy="2831306"/>
            <a:chOff x="1164173" y="1755713"/>
            <a:chExt cx="4649637" cy="2831306"/>
          </a:xfrm>
        </p:grpSpPr>
        <p:grpSp>
          <p:nvGrpSpPr>
            <p:cNvPr id="33" name="Group 32">
              <a:extLst>
                <a:ext uri="{FF2B5EF4-FFF2-40B4-BE49-F238E27FC236}">
                  <a16:creationId xmlns:a16="http://schemas.microsoft.com/office/drawing/2014/main" id="{76FC1B6D-D15A-2B62-F34B-2DBE585FCC67}"/>
                </a:ext>
              </a:extLst>
            </p:cNvPr>
            <p:cNvGrpSpPr/>
            <p:nvPr/>
          </p:nvGrpSpPr>
          <p:grpSpPr>
            <a:xfrm>
              <a:off x="1164173" y="1755713"/>
              <a:ext cx="4649637" cy="2831306"/>
              <a:chOff x="1442171" y="1857450"/>
              <a:chExt cx="5175250" cy="2831306"/>
            </a:xfrm>
          </p:grpSpPr>
          <p:grpSp>
            <p:nvGrpSpPr>
              <p:cNvPr id="27" name="Group 26">
                <a:extLst>
                  <a:ext uri="{FF2B5EF4-FFF2-40B4-BE49-F238E27FC236}">
                    <a16:creationId xmlns:a16="http://schemas.microsoft.com/office/drawing/2014/main" id="{64A6CA04-4D93-7BBE-FA80-E4649E650FFC}"/>
                  </a:ext>
                </a:extLst>
              </p:cNvPr>
              <p:cNvGrpSpPr/>
              <p:nvPr/>
            </p:nvGrpSpPr>
            <p:grpSpPr>
              <a:xfrm>
                <a:off x="1442171" y="1857450"/>
                <a:ext cx="5175250" cy="2831306"/>
                <a:chOff x="815975" y="1755713"/>
                <a:chExt cx="5175250" cy="2831306"/>
              </a:xfrm>
            </p:grpSpPr>
            <p:sp>
              <p:nvSpPr>
                <p:cNvPr id="4" name="Shape 2"/>
                <p:cNvSpPr/>
                <p:nvPr/>
              </p:nvSpPr>
              <p:spPr>
                <a:xfrm>
                  <a:off x="815975" y="1755713"/>
                  <a:ext cx="5175250" cy="2831306"/>
                </a:xfrm>
                <a:prstGeom prst="roundRect">
                  <a:avLst>
                    <a:gd name="adj" fmla="val 3476"/>
                  </a:avLst>
                </a:prstGeom>
                <a:solidFill>
                  <a:srgbClr val="FDFCF9"/>
                </a:solidFill>
                <a:ln w="6350">
                  <a:solidFill>
                    <a:srgbClr val="D9DFE3"/>
                  </a:solidFill>
                  <a:prstDash val="solid"/>
                </a:ln>
              </p:spPr>
              <p:txBody>
                <a:bodyPr/>
                <a:lstStyle/>
                <a:p>
                  <a:endParaRPr lang="en-US"/>
                </a:p>
              </p:txBody>
            </p:sp>
            <p:sp>
              <p:nvSpPr>
                <p:cNvPr id="5" name="Text 3"/>
                <p:cNvSpPr/>
                <p:nvPr/>
              </p:nvSpPr>
              <p:spPr>
                <a:xfrm>
                  <a:off x="1401233" y="1959967"/>
                  <a:ext cx="4528735" cy="360627"/>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F2A43"/>
                      </a:solidFill>
                      <a:latin typeface="Source Serif 4" pitchFamily="18" charset="0"/>
                      <a:ea typeface="Source Serif 4" pitchFamily="18" charset="-122"/>
                      <a:cs typeface="Source Serif 4" pitchFamily="18" charset="-120"/>
                    </a:rPr>
                    <a:t>What it says</a:t>
                  </a:r>
                  <a:endParaRPr lang="en-US" sz="2200" dirty="0"/>
                </a:p>
              </p:txBody>
            </p:sp>
            <p:sp>
              <p:nvSpPr>
                <p:cNvPr id="7" name="Text 4"/>
                <p:cNvSpPr/>
                <p:nvPr/>
              </p:nvSpPr>
              <p:spPr>
                <a:xfrm>
                  <a:off x="1401233" y="2422203"/>
                  <a:ext cx="4421378"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The interaction model has lower validation error than the additive model</a:t>
                  </a:r>
                  <a:endParaRPr lang="en-US" sz="1600" dirty="0"/>
                </a:p>
              </p:txBody>
            </p:sp>
            <p:sp>
              <p:nvSpPr>
                <p:cNvPr id="9" name="Text 5"/>
                <p:cNvSpPr/>
                <p:nvPr/>
              </p:nvSpPr>
              <p:spPr>
                <a:xfrm>
                  <a:off x="1401233" y="3118048"/>
                  <a:ext cx="4421378"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The log candidate was not useful in this comparison</a:t>
                  </a:r>
                  <a:endParaRPr lang="en-US" sz="1600" dirty="0"/>
                </a:p>
              </p:txBody>
            </p:sp>
            <p:sp>
              <p:nvSpPr>
                <p:cNvPr id="11" name="Text 6"/>
                <p:cNvSpPr/>
                <p:nvPr/>
              </p:nvSpPr>
              <p:spPr>
                <a:xfrm>
                  <a:off x="1401233" y="3813907"/>
                  <a:ext cx="4421378" cy="594254"/>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F5166"/>
                      </a:solidFill>
                      <a:latin typeface="IBM Plex Sans" pitchFamily="34" charset="0"/>
                      <a:ea typeface="IBM Plex Sans" pitchFamily="34" charset="-122"/>
                      <a:cs typeface="IBM Plex Sans" pitchFamily="34" charset="-120"/>
                    </a:rPr>
                    <a:t>No negative test predictions occurred, so none were clipped</a:t>
                  </a:r>
                  <a:endParaRPr lang="en-US" sz="1600" dirty="0"/>
                </a:p>
              </p:txBody>
            </p:sp>
          </p:grpSp>
          <p:pic>
            <p:nvPicPr>
              <p:cNvPr id="28" name="Image 0" descr="Check">
                <a:extLst>
                  <a:ext uri="{FF2B5EF4-FFF2-40B4-BE49-F238E27FC236}">
                    <a16:creationId xmlns:a16="http://schemas.microsoft.com/office/drawing/2014/main" id="{2F02FF56-8288-2EBD-1938-D2DC90E31927}"/>
                  </a:ext>
                </a:extLst>
              </p:cNvPr>
              <p:cNvPicPr>
                <a:picLocks noChangeAspect="1"/>
              </p:cNvPicPr>
              <p:nvPr/>
            </p:nvPicPr>
            <p:blipFill>
              <a:blip r:embed="rId3"/>
              <a:srcRect/>
              <a:stretch/>
            </p:blipFill>
            <p:spPr>
              <a:xfrm>
                <a:off x="1596548" y="2552054"/>
                <a:ext cx="254000" cy="254000"/>
              </a:xfrm>
              <a:prstGeom prst="rect">
                <a:avLst/>
              </a:prstGeom>
            </p:spPr>
          </p:pic>
          <p:pic>
            <p:nvPicPr>
              <p:cNvPr id="32" name="Image 0" descr="Check">
                <a:extLst>
                  <a:ext uri="{FF2B5EF4-FFF2-40B4-BE49-F238E27FC236}">
                    <a16:creationId xmlns:a16="http://schemas.microsoft.com/office/drawing/2014/main" id="{84EEB94E-9824-F158-3BD7-0AE185B9E873}"/>
                  </a:ext>
                </a:extLst>
              </p:cNvPr>
              <p:cNvPicPr>
                <a:picLocks noChangeAspect="1"/>
              </p:cNvPicPr>
              <p:nvPr/>
            </p:nvPicPr>
            <p:blipFill>
              <a:blip r:embed="rId3"/>
              <a:srcRect/>
              <a:stretch/>
            </p:blipFill>
            <p:spPr>
              <a:xfrm>
                <a:off x="1636810" y="3912151"/>
                <a:ext cx="254000" cy="254000"/>
              </a:xfrm>
              <a:prstGeom prst="rect">
                <a:avLst/>
              </a:prstGeom>
            </p:spPr>
          </p:pic>
        </p:grpSp>
        <p:pic>
          <p:nvPicPr>
            <p:cNvPr id="35" name="Image 0" descr="Check">
              <a:extLst>
                <a:ext uri="{FF2B5EF4-FFF2-40B4-BE49-F238E27FC236}">
                  <a16:creationId xmlns:a16="http://schemas.microsoft.com/office/drawing/2014/main" id="{D26118A9-DBFB-1CB0-1CC1-79088C4D48B2}"/>
                </a:ext>
              </a:extLst>
            </p:cNvPr>
            <p:cNvPicPr>
              <a:picLocks noChangeAspect="1"/>
            </p:cNvPicPr>
            <p:nvPr/>
          </p:nvPicPr>
          <p:blipFill>
            <a:blip r:embed="rId3"/>
            <a:srcRect/>
            <a:stretch/>
          </p:blipFill>
          <p:spPr>
            <a:xfrm>
              <a:off x="1333417" y="3143452"/>
              <a:ext cx="254000" cy="254000"/>
            </a:xfrm>
            <a:prstGeom prst="rect">
              <a:avLst/>
            </a:prstGeom>
          </p:spPr>
        </p:pic>
      </p:grpSp>
      <p:pic>
        <p:nvPicPr>
          <p:cNvPr id="39" name="Image 7" descr="Warning">
            <a:extLst>
              <a:ext uri="{FF2B5EF4-FFF2-40B4-BE49-F238E27FC236}">
                <a16:creationId xmlns:a16="http://schemas.microsoft.com/office/drawing/2014/main" id="{6F5F3D16-D269-79E2-E2F7-46CCA26A2E96}"/>
              </a:ext>
            </a:extLst>
          </p:cNvPr>
          <p:cNvPicPr>
            <a:picLocks noChangeAspect="1"/>
          </p:cNvPicPr>
          <p:nvPr/>
        </p:nvPicPr>
        <p:blipFill>
          <a:blip r:embed="rId4"/>
          <a:srcRect/>
          <a:stretch/>
        </p:blipFill>
        <p:spPr>
          <a:xfrm>
            <a:off x="6405033" y="3150364"/>
            <a:ext cx="254000" cy="23199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0F2A43"/>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F2A43"/>
              </a:gs>
              <a:gs pos="100000">
                <a:srgbClr val="0A1D31"/>
              </a:gs>
            </a:gsLst>
            <a:lin ang="2700000" scaled="0"/>
          </a:gradFill>
          <a:ln/>
        </p:spPr>
        <p:txBody>
          <a:bodyPr/>
          <a:lstStyle/>
          <a:p>
            <a:endParaRPr lang="en-US"/>
          </a:p>
        </p:txBody>
      </p:sp>
      <p:pic>
        <p:nvPicPr>
          <p:cNvPr id="3" name="Image 0" descr="ellipse"/>
          <p:cNvPicPr>
            <a:picLocks noChangeAspect="1"/>
          </p:cNvPicPr>
          <p:nvPr/>
        </p:nvPicPr>
        <p:blipFill>
          <a:blip r:embed="rId3"/>
          <a:srcRect/>
          <a:stretch/>
        </p:blipFill>
        <p:spPr>
          <a:xfrm>
            <a:off x="7112000" y="1143000"/>
            <a:ext cx="4267200" cy="4267200"/>
          </a:xfrm>
          <a:prstGeom prst="rect">
            <a:avLst/>
          </a:prstGeom>
        </p:spPr>
      </p:pic>
      <p:pic>
        <p:nvPicPr>
          <p:cNvPr id="4" name="Image 1" descr="ellipse"/>
          <p:cNvPicPr>
            <a:picLocks noChangeAspect="1"/>
          </p:cNvPicPr>
          <p:nvPr/>
        </p:nvPicPr>
        <p:blipFill>
          <a:blip r:embed="rId4"/>
          <a:srcRect/>
          <a:stretch/>
        </p:blipFill>
        <p:spPr>
          <a:xfrm>
            <a:off x="8255000" y="2667000"/>
            <a:ext cx="2032000" cy="2032000"/>
          </a:xfrm>
          <a:prstGeom prst="rect">
            <a:avLst/>
          </a:prstGeom>
        </p:spPr>
      </p:pic>
      <p:pic>
        <p:nvPicPr>
          <p:cNvPr id="5" name="Image 2" descr="line"/>
          <p:cNvPicPr>
            <a:picLocks noChangeAspect="1"/>
          </p:cNvPicPr>
          <p:nvPr/>
        </p:nvPicPr>
        <p:blipFill>
          <a:blip r:embed="rId5"/>
          <a:srcRect/>
          <a:stretch/>
        </p:blipFill>
        <p:spPr>
          <a:xfrm>
            <a:off x="812800" y="1959707"/>
            <a:ext cx="609600" cy="25400"/>
          </a:xfrm>
          <a:prstGeom prst="rect">
            <a:avLst/>
          </a:prstGeom>
        </p:spPr>
      </p:pic>
      <p:sp>
        <p:nvSpPr>
          <p:cNvPr id="6" name="Text 1"/>
          <p:cNvSpPr/>
          <p:nvPr/>
        </p:nvSpPr>
        <p:spPr>
          <a:xfrm>
            <a:off x="812800" y="2188307"/>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E8A33D"/>
                </a:solidFill>
                <a:latin typeface="IBM Plex Sans" pitchFamily="34" charset="0"/>
                <a:ea typeface="IBM Plex Sans" pitchFamily="34" charset="-122"/>
                <a:cs typeface="IBM Plex Sans" pitchFamily="34" charset="-120"/>
              </a:rPr>
              <a:t>SUMMARY</a:t>
            </a:r>
            <a:endParaRPr lang="en-US" sz="1200" dirty="0"/>
          </a:p>
        </p:txBody>
      </p:sp>
      <p:sp>
        <p:nvSpPr>
          <p:cNvPr id="7" name="Text 2"/>
          <p:cNvSpPr>
            <a:spLocks noGrp="1"/>
          </p:cNvSpPr>
          <p:nvPr>
            <p:ph type="title"/>
          </p:nvPr>
        </p:nvSpPr>
        <p:spPr>
          <a:xfrm>
            <a:off x="812800" y="2604827"/>
            <a:ext cx="6278880" cy="6959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6F4EE"/>
                </a:solidFill>
                <a:latin typeface="Source Serif 4" pitchFamily="18" charset="0"/>
                <a:ea typeface="Source Serif 4" pitchFamily="18" charset="-122"/>
                <a:cs typeface="Source Serif 4" pitchFamily="18" charset="-120"/>
              </a:rPr>
              <a:t>Thank you</a:t>
            </a:r>
            <a:endParaRPr lang="en-US" sz="4800" dirty="0"/>
          </a:p>
        </p:txBody>
      </p:sp>
      <p:sp>
        <p:nvSpPr>
          <p:cNvPr id="8" name="Text 3"/>
          <p:cNvSpPr/>
          <p:nvPr/>
        </p:nvSpPr>
        <p:spPr>
          <a:xfrm>
            <a:off x="812800" y="3478547"/>
            <a:ext cx="6278880" cy="388607"/>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5D5E0"/>
                </a:solidFill>
                <a:latin typeface="IBM Plex Sans" pitchFamily="34" charset="0"/>
                <a:ea typeface="IBM Plex Sans" pitchFamily="34" charset="-122"/>
                <a:cs typeface="IBM Plex Sans" pitchFamily="34" charset="-120"/>
              </a:rPr>
              <a:t>Questions and discussion</a:t>
            </a:r>
            <a:endParaRPr lang="en-US" sz="2200" dirty="0"/>
          </a:p>
        </p:txBody>
      </p:sp>
      <p:sp>
        <p:nvSpPr>
          <p:cNvPr id="9" name="Text 4"/>
          <p:cNvSpPr/>
          <p:nvPr/>
        </p:nvSpPr>
        <p:spPr>
          <a:xfrm>
            <a:off x="812800" y="4044950"/>
            <a:ext cx="6278880" cy="878681"/>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5D5E0"/>
                </a:solidFill>
                <a:latin typeface="IBM Plex Sans" pitchFamily="34" charset="0"/>
                <a:ea typeface="IBM Plex Sans" pitchFamily="34" charset="-122"/>
                <a:cs typeface="IBM Plex Sans" pitchFamily="34" charset="-120"/>
              </a:rPr>
              <a:t>Selected model: multiple OLS with a BMI × smoking interaction. Test MAE 2,828.53, RMSE 4,572.84 and R² 0.8862. A useful predictor, but an imperfect explanation of what drives charges.</a:t>
            </a:r>
            <a:endParaRPr lang="en-US" sz="1600" dirty="0"/>
          </a:p>
        </p:txBody>
      </p:sp>
    </p:spTree>
  </p:cSld>
  <p:clrMapOvr>
    <a:masterClrMapping/>
  </p:clrMapOvr>
</p:sld>
</file>

<file path=ppt/theme/theme1.xml><?xml version="1.0" encoding="utf-8"?>
<a:theme xmlns:a="http://schemas.openxmlformats.org/drawingml/2006/main" name="Medical Insurance Charges Prediction">
  <a:themeElements>
    <a:clrScheme name="Medical Insurance Charges Prediction">
      <a:dk1>
        <a:srgbClr val="0F2A43"/>
      </a:dk1>
      <a:lt1>
        <a:srgbClr val="F6F4EE"/>
      </a:lt1>
      <a:dk2>
        <a:srgbClr val="495D6E"/>
      </a:dk2>
      <a:lt2>
        <a:srgbClr val="DFE0DD"/>
      </a:lt2>
      <a:accent1>
        <a:srgbClr val="3F5166"/>
      </a:accent1>
      <a:accent2>
        <a:srgbClr val="0E7C86"/>
      </a:accent2>
      <a:accent3>
        <a:srgbClr val="E8A33D"/>
      </a:accent3>
      <a:accent4>
        <a:srgbClr val="B26A00"/>
      </a:accent4>
      <a:accent5>
        <a:srgbClr val="5A6B7E"/>
      </a:accent5>
      <a:accent6>
        <a:srgbClr val="C5D5E0"/>
      </a:accent6>
      <a:hlink>
        <a:srgbClr val="0563C1"/>
      </a:hlink>
      <a:folHlink>
        <a:srgbClr val="954F72"/>
      </a:folHlink>
    </a:clrScheme>
    <a:fontScheme name="Medical Insurance Charges Prediction">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TotalTime>
  <Words>3069</Words>
  <Application>Microsoft Office PowerPoint</Application>
  <PresentationFormat>Widescreen</PresentationFormat>
  <Paragraphs>368</Paragraphs>
  <Slides>22</Slides>
  <Notes>22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Arial</vt:lpstr>
      <vt:lpstr>IBM Plex Sans</vt:lpstr>
      <vt:lpstr>Source Serif 4</vt:lpstr>
      <vt:lpstr>Medical Insurance Charges Prediction</vt:lpstr>
      <vt:lpstr>Predicting Medical Insurance Charges</vt:lpstr>
      <vt:lpstr>Roadmap</vt:lpstr>
      <vt:lpstr>Predict recorded insurance charges</vt:lpstr>
      <vt:lpstr>Objectives and scope</vt:lpstr>
      <vt:lpstr>Dataset overview</vt:lpstr>
      <vt:lpstr>Split first: train, validate, test</vt:lpstr>
      <vt:lpstr>Charges have a long right tail</vt:lpstr>
      <vt:lpstr>Smoking changes the charge pattern</vt:lpstr>
      <vt:lpstr>Preparing the inputs</vt:lpstr>
      <vt:lpstr>Ordinary least squares</vt:lpstr>
      <vt:lpstr>Three candidate models</vt:lpstr>
      <vt:lpstr>Five-fold validation protocol</vt:lpstr>
      <vt:lpstr>Metrics and diagnostics</vt:lpstr>
      <vt:lpstr>The interaction model wins validation</vt:lpstr>
      <vt:lpstr>Out-of-fold residuals by model</vt:lpstr>
      <vt:lpstr>Final reserved-test performance</vt:lpstr>
      <vt:lpstr>Reserved test: where predictions land</vt:lpstr>
      <vt:lpstr>Smokers are harder to predict</vt:lpstr>
      <vt:lpstr>Reading the fitted coefficients</vt:lpstr>
      <vt:lpstr>What the evidence shows</vt:lpstr>
      <vt:lpstr>What the claims can and cannot say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Medical Insurance Charges Prediction</dc:title>
  <dc:subject/>
  <dc:creator/>
  <cp:lastModifiedBy>Deepak Reddy</cp:lastModifiedBy>
  <cp:revision>3</cp:revision>
  <dcterms:created xsi:type="dcterms:W3CDTF">2026-10-12T08:37:26Z</dcterms:created>
  <dcterms:modified xsi:type="dcterms:W3CDTF">2026-10-12T10:36:56Z</dcterms:modified>
</cp:coreProperties>
</file>